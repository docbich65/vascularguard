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18011"/>
            <a:chOff x="0" y="0"/>
            <a:chExt cx="24417871" cy="424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423928"/>
            </a:xfrm>
            <a:custGeom>
              <a:avLst/>
              <a:gdLst/>
              <a:ahLst/>
              <a:cxnLst/>
              <a:rect r="r" b="b" t="t" l="l"/>
              <a:pathLst>
                <a:path h="42392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07035"/>
                  </a:lnTo>
                  <a:cubicBezTo>
                    <a:pt x="24417782" y="416433"/>
                    <a:pt x="24410163" y="423926"/>
                    <a:pt x="24400890" y="423926"/>
                  </a:cubicBezTo>
                  <a:lnTo>
                    <a:pt x="16891" y="423926"/>
                  </a:lnTo>
                  <a:cubicBezTo>
                    <a:pt x="7620" y="424053"/>
                    <a:pt x="0" y="416433"/>
                    <a:pt x="0" y="4070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7035"/>
                  </a:lnTo>
                  <a:lnTo>
                    <a:pt x="16891" y="407035"/>
                  </a:lnTo>
                  <a:lnTo>
                    <a:pt x="16891" y="390144"/>
                  </a:lnTo>
                  <a:lnTo>
                    <a:pt x="24400890" y="390144"/>
                  </a:lnTo>
                  <a:lnTo>
                    <a:pt x="24400890" y="407035"/>
                  </a:lnTo>
                  <a:lnTo>
                    <a:pt x="24384000" y="4070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800583" y="718823"/>
            <a:ext cx="3134363" cy="3134363"/>
            <a:chOff x="0" y="0"/>
            <a:chExt cx="4179151" cy="4179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2072640"/>
                  </a:moveTo>
                  <a:cubicBezTo>
                    <a:pt x="0" y="927989"/>
                    <a:pt x="927989" y="0"/>
                    <a:pt x="2072640" y="0"/>
                  </a:cubicBezTo>
                  <a:cubicBezTo>
                    <a:pt x="3217291" y="0"/>
                    <a:pt x="4145280" y="927989"/>
                    <a:pt x="4145280" y="2072640"/>
                  </a:cubicBezTo>
                  <a:cubicBezTo>
                    <a:pt x="4145280" y="3217291"/>
                    <a:pt x="3217291" y="4145280"/>
                    <a:pt x="2072640" y="4145280"/>
                  </a:cubicBezTo>
                  <a:cubicBezTo>
                    <a:pt x="927989" y="4145280"/>
                    <a:pt x="0" y="3217418"/>
                    <a:pt x="0" y="2072640"/>
                  </a:cubicBezTo>
                  <a:close/>
                </a:path>
              </a:pathLst>
            </a:custGeom>
            <a:solidFill>
              <a:srgbClr val="028090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79189" cy="4179062"/>
            </a:xfrm>
            <a:custGeom>
              <a:avLst/>
              <a:gdLst/>
              <a:ahLst/>
              <a:cxnLst/>
              <a:rect r="r" b="b" t="t" l="l"/>
              <a:pathLst>
                <a:path h="4179062" w="4179189">
                  <a:moveTo>
                    <a:pt x="0" y="2089531"/>
                  </a:moveTo>
                  <a:cubicBezTo>
                    <a:pt x="0" y="935482"/>
                    <a:pt x="935482" y="0"/>
                    <a:pt x="2089531" y="0"/>
                  </a:cubicBezTo>
                  <a:lnTo>
                    <a:pt x="2089531" y="16891"/>
                  </a:lnTo>
                  <a:lnTo>
                    <a:pt x="2089531" y="0"/>
                  </a:lnTo>
                  <a:cubicBezTo>
                    <a:pt x="3243580" y="0"/>
                    <a:pt x="4179189" y="935482"/>
                    <a:pt x="4179189" y="2089531"/>
                  </a:cubicBezTo>
                  <a:lnTo>
                    <a:pt x="4162298" y="2089531"/>
                  </a:lnTo>
                  <a:lnTo>
                    <a:pt x="4179189" y="2089531"/>
                  </a:lnTo>
                  <a:cubicBezTo>
                    <a:pt x="4179189" y="3243580"/>
                    <a:pt x="3243707" y="4179062"/>
                    <a:pt x="2089658" y="4179062"/>
                  </a:cubicBezTo>
                  <a:lnTo>
                    <a:pt x="2089658" y="4162171"/>
                  </a:lnTo>
                  <a:lnTo>
                    <a:pt x="2089658" y="4179062"/>
                  </a:lnTo>
                  <a:cubicBezTo>
                    <a:pt x="935482" y="4179189"/>
                    <a:pt x="0" y="3243580"/>
                    <a:pt x="0" y="2089531"/>
                  </a:cubicBezTo>
                  <a:lnTo>
                    <a:pt x="16891" y="208953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0" y="2089531"/>
                  </a:lnTo>
                  <a:moveTo>
                    <a:pt x="33909" y="2089531"/>
                  </a:moveTo>
                  <a:cubicBezTo>
                    <a:pt x="33909" y="2098929"/>
                    <a:pt x="26289" y="2106422"/>
                    <a:pt x="17018" y="2106422"/>
                  </a:cubicBezTo>
                  <a:cubicBezTo>
                    <a:pt x="7747" y="2106422"/>
                    <a:pt x="0" y="2098929"/>
                    <a:pt x="0" y="2089531"/>
                  </a:cubicBezTo>
                  <a:cubicBezTo>
                    <a:pt x="0" y="2080133"/>
                    <a:pt x="7620" y="2072640"/>
                    <a:pt x="16891" y="2072640"/>
                  </a:cubicBezTo>
                  <a:cubicBezTo>
                    <a:pt x="26162" y="2072640"/>
                    <a:pt x="33782" y="2080260"/>
                    <a:pt x="33782" y="2089531"/>
                  </a:cubicBezTo>
                  <a:cubicBezTo>
                    <a:pt x="33782" y="3224911"/>
                    <a:pt x="954151" y="4145280"/>
                    <a:pt x="2089531" y="4145280"/>
                  </a:cubicBezTo>
                  <a:cubicBezTo>
                    <a:pt x="3224911" y="4145280"/>
                    <a:pt x="4145280" y="3224911"/>
                    <a:pt x="4145280" y="2089531"/>
                  </a:cubicBezTo>
                  <a:cubicBezTo>
                    <a:pt x="4145280" y="954151"/>
                    <a:pt x="3224911" y="33782"/>
                    <a:pt x="2089531" y="33782"/>
                  </a:cubicBezTo>
                  <a:lnTo>
                    <a:pt x="2089531" y="16891"/>
                  </a:lnTo>
                  <a:lnTo>
                    <a:pt x="2089531" y="33909"/>
                  </a:lnTo>
                  <a:cubicBezTo>
                    <a:pt x="954278" y="33909"/>
                    <a:pt x="33909" y="954278"/>
                    <a:pt x="33909" y="2089531"/>
                  </a:cubicBezTo>
                  <a:close/>
                </a:path>
              </a:pathLst>
            </a:custGeom>
            <a:solidFill>
              <a:srgbClr val="028090">
                <a:alpha val="4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03303" y="2181863"/>
            <a:ext cx="1854203" cy="1854203"/>
            <a:chOff x="0" y="0"/>
            <a:chExt cx="2472271" cy="2472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E07B39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E07B39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14983" y="3279143"/>
            <a:ext cx="1122683" cy="1122683"/>
            <a:chOff x="0" y="0"/>
            <a:chExt cx="1496911" cy="1496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07B39">
                <a:alpha val="4862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E07B39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097280"/>
            <a:ext cx="12801600" cy="804672"/>
            <a:chOff x="0" y="0"/>
            <a:chExt cx="17068800" cy="1072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068800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000">
                  <a:solidFill>
                    <a:srgbClr val="E07B3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VASCULARGUARD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975104"/>
            <a:ext cx="12801600" cy="3657600"/>
            <a:chOff x="0" y="0"/>
            <a:chExt cx="17068800" cy="4876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38125"/>
              <a:ext cx="17068800" cy="511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32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Predicting Dialysis</a:t>
              </a:r>
            </a:p>
            <a:p>
              <a:pPr algn="l">
                <a:lnSpc>
                  <a:spcPts val="10032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Failure Before</a:t>
              </a:r>
            </a:p>
            <a:p>
              <a:pPr algn="l">
                <a:lnSpc>
                  <a:spcPts val="10032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Happens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8997" y="5790181"/>
            <a:ext cx="11937997" cy="50797"/>
            <a:chOff x="0" y="0"/>
            <a:chExt cx="15917329" cy="67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909" y="0"/>
              <a:ext cx="15849601" cy="67691"/>
            </a:xfrm>
            <a:custGeom>
              <a:avLst/>
              <a:gdLst/>
              <a:ahLst/>
              <a:cxnLst/>
              <a:rect r="r" b="b" t="t" l="l"/>
              <a:pathLst>
                <a:path h="67691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6108192"/>
            <a:ext cx="13167360" cy="1499616"/>
            <a:chOff x="0" y="0"/>
            <a:chExt cx="17556480" cy="19994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5564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88" r="0" b="-1210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556480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machine learning solution to protect dialysis patients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sudden vascular access failure — their lifeline for survival.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7924295"/>
            <a:ext cx="4780283" cy="1817627"/>
            <a:chOff x="0" y="0"/>
            <a:chExt cx="6373711" cy="24235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63398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73622" cy="2423414"/>
            </a:xfrm>
            <a:custGeom>
              <a:avLst/>
              <a:gdLst/>
              <a:ahLst/>
              <a:cxnLst/>
              <a:rect r="r" b="b" t="t" l="l"/>
              <a:pathLst>
                <a:path h="2423414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406523"/>
                  </a:lnTo>
                  <a:cubicBezTo>
                    <a:pt x="6373622" y="2415921"/>
                    <a:pt x="6366002" y="2423414"/>
                    <a:pt x="635673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6356731" y="2389632"/>
                  </a:lnTo>
                  <a:lnTo>
                    <a:pt x="6356731" y="2406523"/>
                  </a:lnTo>
                  <a:lnTo>
                    <a:pt x="6339840" y="2406523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8010144"/>
            <a:ext cx="4754880" cy="877824"/>
            <a:chOff x="0" y="0"/>
            <a:chExt cx="6339840" cy="11704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39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6339840" cy="1256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500K+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8851392"/>
            <a:ext cx="4754880" cy="621792"/>
            <a:chOff x="0" y="0"/>
            <a:chExt cx="6339840" cy="8290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829056"/>
            </a:xfrm>
            <a:custGeom>
              <a:avLst/>
              <a:gdLst/>
              <a:ahLst/>
              <a:cxnLst/>
              <a:rect r="r" b="b" t="t" l="l"/>
              <a:pathLst>
                <a:path h="82905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3398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 dialysis patients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88103" y="7924295"/>
            <a:ext cx="4780283" cy="1817627"/>
            <a:chOff x="0" y="0"/>
            <a:chExt cx="6373711" cy="24235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63398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73622" cy="2423414"/>
            </a:xfrm>
            <a:custGeom>
              <a:avLst/>
              <a:gdLst/>
              <a:ahLst/>
              <a:cxnLst/>
              <a:rect r="r" b="b" t="t" l="l"/>
              <a:pathLst>
                <a:path h="2423414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406523"/>
                  </a:lnTo>
                  <a:cubicBezTo>
                    <a:pt x="6373622" y="2415921"/>
                    <a:pt x="6366002" y="2423414"/>
                    <a:pt x="635673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6356731" y="2389632"/>
                  </a:lnTo>
                  <a:lnTo>
                    <a:pt x="6356731" y="2406523"/>
                  </a:lnTo>
                  <a:lnTo>
                    <a:pt x="6339840" y="2406523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0" y="8010144"/>
            <a:ext cx="4754880" cy="877824"/>
            <a:chOff x="0" y="0"/>
            <a:chExt cx="6339840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39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6339840" cy="1256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00800" y="8851392"/>
            <a:ext cx="4754880" cy="621792"/>
            <a:chOff x="0" y="0"/>
            <a:chExt cx="6339840" cy="8290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39840" cy="829056"/>
            </a:xfrm>
            <a:custGeom>
              <a:avLst/>
              <a:gdLst/>
              <a:ahLst/>
              <a:cxnLst/>
              <a:rect r="r" b="b" t="t" l="l"/>
              <a:pathLst>
                <a:path h="82905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3398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 access failure rate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74503" y="7924295"/>
            <a:ext cx="4780283" cy="1817627"/>
            <a:chOff x="0" y="0"/>
            <a:chExt cx="6373711" cy="24235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6339840" cy="2389632"/>
            </a:xfrm>
            <a:custGeom>
              <a:avLst/>
              <a:gdLst/>
              <a:ahLst/>
              <a:cxnLst/>
              <a:rect r="r" b="b" t="t" l="l"/>
              <a:pathLst>
                <a:path h="23896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73622" cy="2423414"/>
            </a:xfrm>
            <a:custGeom>
              <a:avLst/>
              <a:gdLst/>
              <a:ahLst/>
              <a:cxnLst/>
              <a:rect r="r" b="b" t="t" l="l"/>
              <a:pathLst>
                <a:path h="2423414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406523"/>
                  </a:lnTo>
                  <a:cubicBezTo>
                    <a:pt x="6373622" y="2415921"/>
                    <a:pt x="6366002" y="2423414"/>
                    <a:pt x="6356731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6356731" y="2389632"/>
                  </a:lnTo>
                  <a:lnTo>
                    <a:pt x="6356731" y="2406523"/>
                  </a:lnTo>
                  <a:lnTo>
                    <a:pt x="6339840" y="2406523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0" y="8010144"/>
            <a:ext cx="4754880" cy="877824"/>
            <a:chOff x="0" y="0"/>
            <a:chExt cx="6339840" cy="11704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9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85725"/>
              <a:ext cx="6339840" cy="1256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$15K+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887200" y="8851392"/>
            <a:ext cx="4754880" cy="621792"/>
            <a:chOff x="0" y="0"/>
            <a:chExt cx="6339840" cy="8290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39840" cy="829056"/>
            </a:xfrm>
            <a:custGeom>
              <a:avLst/>
              <a:gdLst/>
              <a:ahLst/>
              <a:cxnLst/>
              <a:rect r="r" b="b" t="t" l="l"/>
              <a:pathLst>
                <a:path h="82905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3398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 per emergency repair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9838944"/>
            <a:ext cx="16459200" cy="402336"/>
            <a:chOff x="0" y="0"/>
            <a:chExt cx="2194560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Joseph Dominic Bichara  |  Capstone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CLINICAL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dialysis patients, vascular access is their lifeline — and it fails silently.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633223"/>
            <a:ext cx="5511803" cy="6645659"/>
            <a:chOff x="0" y="0"/>
            <a:chExt cx="7349071" cy="88608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8827008"/>
            </a:xfrm>
            <a:custGeom>
              <a:avLst/>
              <a:gdLst/>
              <a:ahLst/>
              <a:cxnLst/>
              <a:rect r="r" b="b" t="t" l="l"/>
              <a:pathLst>
                <a:path h="88270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27008"/>
                  </a:lnTo>
                  <a:lnTo>
                    <a:pt x="0" y="8827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8860790"/>
            </a:xfrm>
            <a:custGeom>
              <a:avLst/>
              <a:gdLst/>
              <a:ahLst/>
              <a:cxnLst/>
              <a:rect r="r" b="b" t="t" l="l"/>
              <a:pathLst>
                <a:path h="886079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843899"/>
                  </a:lnTo>
                  <a:cubicBezTo>
                    <a:pt x="7348982" y="8853297"/>
                    <a:pt x="7341362" y="8860790"/>
                    <a:pt x="7332091" y="8860790"/>
                  </a:cubicBezTo>
                  <a:lnTo>
                    <a:pt x="16891" y="8860790"/>
                  </a:lnTo>
                  <a:cubicBezTo>
                    <a:pt x="7493" y="8860790"/>
                    <a:pt x="0" y="8853170"/>
                    <a:pt x="0" y="88438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43899"/>
                  </a:lnTo>
                  <a:lnTo>
                    <a:pt x="16891" y="8843899"/>
                  </a:lnTo>
                  <a:lnTo>
                    <a:pt x="16891" y="8827008"/>
                  </a:lnTo>
                  <a:lnTo>
                    <a:pt x="7332091" y="8827008"/>
                  </a:lnTo>
                  <a:lnTo>
                    <a:pt x="7332091" y="8843899"/>
                  </a:lnTo>
                  <a:lnTo>
                    <a:pt x="7315200" y="88438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633223"/>
            <a:ext cx="5511803" cy="244859"/>
            <a:chOff x="0" y="0"/>
            <a:chExt cx="7349071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292608"/>
            </a:xfrm>
            <a:custGeom>
              <a:avLst/>
              <a:gdLst/>
              <a:ahLst/>
              <a:cxnLst/>
              <a:rect r="r" b="b" t="t" l="l"/>
              <a:pathLst>
                <a:path h="2926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326392"/>
            </a:xfrm>
            <a:custGeom>
              <a:avLst/>
              <a:gdLst/>
              <a:ahLst/>
              <a:cxnLst/>
              <a:rect r="r" b="b" t="t" l="l"/>
              <a:pathLst>
                <a:path h="3263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09499"/>
                  </a:lnTo>
                  <a:cubicBezTo>
                    <a:pt x="7348982" y="318897"/>
                    <a:pt x="7341362" y="326390"/>
                    <a:pt x="73320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7332091" y="292608"/>
                  </a:lnTo>
                  <a:lnTo>
                    <a:pt x="7332091" y="309499"/>
                  </a:lnTo>
                  <a:lnTo>
                    <a:pt x="7315200" y="3094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2011680"/>
            <a:ext cx="5486400" cy="1207008"/>
            <a:chOff x="0" y="0"/>
            <a:chExt cx="7315200" cy="16093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1609344"/>
            </a:xfrm>
            <a:custGeom>
              <a:avLst/>
              <a:gdLst/>
              <a:ahLst/>
              <a:cxnLst/>
              <a:rect r="r" b="b" t="t" l="l"/>
              <a:pathLst>
                <a:path h="16093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0" cy="17331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3328416"/>
            <a:ext cx="4937760" cy="694944"/>
            <a:chOff x="0" y="0"/>
            <a:chExt cx="65836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5836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Sudden Failure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4169664"/>
            <a:ext cx="4937760" cy="3657600"/>
            <a:chOff x="0" y="0"/>
            <a:chExt cx="6583680" cy="4876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039" t="0" r="-4503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58368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 failure typically presents as an emergency — often mid-session — requiring immediate intervention or permanent loss of the access site.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96663" y="1633223"/>
            <a:ext cx="5511803" cy="6645659"/>
            <a:chOff x="0" y="0"/>
            <a:chExt cx="7349071" cy="88608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0" cy="8827008"/>
            </a:xfrm>
            <a:custGeom>
              <a:avLst/>
              <a:gdLst/>
              <a:ahLst/>
              <a:cxnLst/>
              <a:rect r="r" b="b" t="t" l="l"/>
              <a:pathLst>
                <a:path h="88270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27008"/>
                  </a:lnTo>
                  <a:lnTo>
                    <a:pt x="0" y="8827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8982" cy="8860790"/>
            </a:xfrm>
            <a:custGeom>
              <a:avLst/>
              <a:gdLst/>
              <a:ahLst/>
              <a:cxnLst/>
              <a:rect r="r" b="b" t="t" l="l"/>
              <a:pathLst>
                <a:path h="886079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843899"/>
                  </a:lnTo>
                  <a:cubicBezTo>
                    <a:pt x="7348982" y="8853297"/>
                    <a:pt x="7341362" y="8860790"/>
                    <a:pt x="7332091" y="8860790"/>
                  </a:cubicBezTo>
                  <a:lnTo>
                    <a:pt x="16891" y="8860790"/>
                  </a:lnTo>
                  <a:cubicBezTo>
                    <a:pt x="7493" y="8860790"/>
                    <a:pt x="0" y="8853170"/>
                    <a:pt x="0" y="88438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43899"/>
                  </a:lnTo>
                  <a:lnTo>
                    <a:pt x="16891" y="8843899"/>
                  </a:lnTo>
                  <a:lnTo>
                    <a:pt x="16891" y="8827008"/>
                  </a:lnTo>
                  <a:lnTo>
                    <a:pt x="7332091" y="8827008"/>
                  </a:lnTo>
                  <a:lnTo>
                    <a:pt x="7332091" y="8843899"/>
                  </a:lnTo>
                  <a:lnTo>
                    <a:pt x="7315200" y="88438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296663" y="1633223"/>
            <a:ext cx="5511803" cy="244859"/>
            <a:chOff x="0" y="0"/>
            <a:chExt cx="7349071" cy="3264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292608"/>
            </a:xfrm>
            <a:custGeom>
              <a:avLst/>
              <a:gdLst/>
              <a:ahLst/>
              <a:cxnLst/>
              <a:rect r="r" b="b" t="t" l="l"/>
              <a:pathLst>
                <a:path h="2926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326392"/>
            </a:xfrm>
            <a:custGeom>
              <a:avLst/>
              <a:gdLst/>
              <a:ahLst/>
              <a:cxnLst/>
              <a:rect r="r" b="b" t="t" l="l"/>
              <a:pathLst>
                <a:path h="3263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09499"/>
                  </a:lnTo>
                  <a:cubicBezTo>
                    <a:pt x="7348982" y="318897"/>
                    <a:pt x="7341362" y="326390"/>
                    <a:pt x="73320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7332091" y="292608"/>
                  </a:lnTo>
                  <a:lnTo>
                    <a:pt x="7332091" y="309499"/>
                  </a:lnTo>
                  <a:lnTo>
                    <a:pt x="7315200" y="3094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09360" y="2011680"/>
            <a:ext cx="5486400" cy="1207008"/>
            <a:chOff x="0" y="0"/>
            <a:chExt cx="7315200" cy="16093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1609344"/>
            </a:xfrm>
            <a:custGeom>
              <a:avLst/>
              <a:gdLst/>
              <a:ahLst/>
              <a:cxnLst/>
              <a:rect r="r" b="b" t="t" l="l"/>
              <a:pathLst>
                <a:path h="16093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7315200" cy="17331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💰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83680" y="3328416"/>
            <a:ext cx="4937760" cy="694944"/>
            <a:chOff x="0" y="0"/>
            <a:chExt cx="658368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65836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Cost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83680" y="4169664"/>
            <a:ext cx="4937760" cy="3657600"/>
            <a:chOff x="0" y="0"/>
            <a:chExt cx="6583680" cy="4876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039" t="0" r="-4503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58368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emergency access revision costs $15,000–$40,000. A functioning access maintained proactively costs ~$1,200/year.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148823" y="1633223"/>
            <a:ext cx="5511803" cy="6645659"/>
            <a:chOff x="0" y="0"/>
            <a:chExt cx="7349071" cy="88608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0" cy="8827008"/>
            </a:xfrm>
            <a:custGeom>
              <a:avLst/>
              <a:gdLst/>
              <a:ahLst/>
              <a:cxnLst/>
              <a:rect r="r" b="b" t="t" l="l"/>
              <a:pathLst>
                <a:path h="88270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27008"/>
                  </a:lnTo>
                  <a:lnTo>
                    <a:pt x="0" y="8827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8982" cy="8860790"/>
            </a:xfrm>
            <a:custGeom>
              <a:avLst/>
              <a:gdLst/>
              <a:ahLst/>
              <a:cxnLst/>
              <a:rect r="r" b="b" t="t" l="l"/>
              <a:pathLst>
                <a:path h="886079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843899"/>
                  </a:lnTo>
                  <a:cubicBezTo>
                    <a:pt x="7348982" y="8853297"/>
                    <a:pt x="7341362" y="8860790"/>
                    <a:pt x="7332091" y="8860790"/>
                  </a:cubicBezTo>
                  <a:lnTo>
                    <a:pt x="16891" y="8860790"/>
                  </a:lnTo>
                  <a:cubicBezTo>
                    <a:pt x="7493" y="8860790"/>
                    <a:pt x="0" y="8853170"/>
                    <a:pt x="0" y="88438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43899"/>
                  </a:lnTo>
                  <a:lnTo>
                    <a:pt x="16891" y="8843899"/>
                  </a:lnTo>
                  <a:lnTo>
                    <a:pt x="16891" y="8827008"/>
                  </a:lnTo>
                  <a:lnTo>
                    <a:pt x="7332091" y="8827008"/>
                  </a:lnTo>
                  <a:lnTo>
                    <a:pt x="7332091" y="8843899"/>
                  </a:lnTo>
                  <a:lnTo>
                    <a:pt x="7315200" y="88438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48823" y="1633223"/>
            <a:ext cx="5511803" cy="244859"/>
            <a:chOff x="0" y="0"/>
            <a:chExt cx="7349071" cy="32647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315200" cy="292608"/>
            </a:xfrm>
            <a:custGeom>
              <a:avLst/>
              <a:gdLst/>
              <a:ahLst/>
              <a:cxnLst/>
              <a:rect r="r" b="b" t="t" l="l"/>
              <a:pathLst>
                <a:path h="2926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48982" cy="326392"/>
            </a:xfrm>
            <a:custGeom>
              <a:avLst/>
              <a:gdLst/>
              <a:ahLst/>
              <a:cxnLst/>
              <a:rect r="r" b="b" t="t" l="l"/>
              <a:pathLst>
                <a:path h="3263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09499"/>
                  </a:lnTo>
                  <a:cubicBezTo>
                    <a:pt x="7348982" y="318897"/>
                    <a:pt x="7341362" y="326390"/>
                    <a:pt x="73320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7332091" y="292608"/>
                  </a:lnTo>
                  <a:lnTo>
                    <a:pt x="7332091" y="309499"/>
                  </a:lnTo>
                  <a:lnTo>
                    <a:pt x="7315200" y="3094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161520" y="2011680"/>
            <a:ext cx="5486400" cy="1207008"/>
            <a:chOff x="0" y="0"/>
            <a:chExt cx="7315200" cy="16093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1609344"/>
            </a:xfrm>
            <a:custGeom>
              <a:avLst/>
              <a:gdLst/>
              <a:ahLst/>
              <a:cxnLst/>
              <a:rect r="r" b="b" t="t" l="l"/>
              <a:pathLst>
                <a:path h="16093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23825"/>
              <a:ext cx="7315200" cy="17331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35840" y="3328416"/>
            <a:ext cx="4937760" cy="694944"/>
            <a:chOff x="0" y="0"/>
            <a:chExt cx="658368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65836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Poor Outcomes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35840" y="4169664"/>
            <a:ext cx="4937760" cy="3657600"/>
            <a:chOff x="0" y="0"/>
            <a:chExt cx="6583680" cy="4876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039" t="0" r="-4503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58368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Patients with repeated access failure face extended hospitalisation, increased mortality risk, and severely reduced quality of life.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44503" y="8509511"/>
            <a:ext cx="17399003" cy="1378715"/>
            <a:chOff x="0" y="0"/>
            <a:chExt cx="23198671" cy="183828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3164799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198582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1821307"/>
                  </a:lnTo>
                  <a:cubicBezTo>
                    <a:pt x="23198582" y="1830705"/>
                    <a:pt x="23190963" y="1838198"/>
                    <a:pt x="23181690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181690" y="1804416"/>
                  </a:lnTo>
                  <a:lnTo>
                    <a:pt x="23181690" y="1821307"/>
                  </a:lnTo>
                  <a:lnTo>
                    <a:pt x="23164800" y="1821307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68096" y="8668512"/>
            <a:ext cx="16642080" cy="1060704"/>
            <a:chOff x="0" y="0"/>
            <a:chExt cx="22189440" cy="14142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2189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07B3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OPPORTUNITY: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Haemodynamic trends visible up to weeks before failure — if you know where to look. Machine learning can catch the signal clinicians miss.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 — HOW VASCULARGUARD 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Trained on 3,000 patients. Validated on held-out test data. Built for clinical workflow.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9639" y="1706375"/>
            <a:ext cx="4012187" cy="4414523"/>
            <a:chOff x="0" y="0"/>
            <a:chExt cx="5349583" cy="5886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15712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49494" cy="5885942"/>
            </a:xfrm>
            <a:custGeom>
              <a:avLst/>
              <a:gdLst/>
              <a:ahLst/>
              <a:cxnLst/>
              <a:rect r="r" b="b" t="t" l="l"/>
              <a:pathLst>
                <a:path h="588594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5869051"/>
                  </a:lnTo>
                  <a:cubicBezTo>
                    <a:pt x="5349494" y="5878449"/>
                    <a:pt x="5341874" y="5885942"/>
                    <a:pt x="5332603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5332603" y="5852160"/>
                  </a:lnTo>
                  <a:lnTo>
                    <a:pt x="5332603" y="5869051"/>
                  </a:lnTo>
                  <a:lnTo>
                    <a:pt x="5315712" y="586905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89255" y="1779527"/>
            <a:ext cx="1012955" cy="1012955"/>
            <a:chOff x="0" y="0"/>
            <a:chExt cx="1350607" cy="1350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lnTo>
                    <a:pt x="675259" y="16891"/>
                  </a:lnTo>
                  <a:lnTo>
                    <a:pt x="675259" y="0"/>
                  </a:lnTo>
                  <a:cubicBezTo>
                    <a:pt x="1048258" y="0"/>
                    <a:pt x="1350518" y="302387"/>
                    <a:pt x="1350518" y="675259"/>
                  </a:cubicBezTo>
                  <a:lnTo>
                    <a:pt x="1333627" y="675259"/>
                  </a:lnTo>
                  <a:lnTo>
                    <a:pt x="1350518" y="675259"/>
                  </a:lnTo>
                  <a:cubicBezTo>
                    <a:pt x="1350518" y="1048258"/>
                    <a:pt x="1048131" y="1350518"/>
                    <a:pt x="675259" y="1350518"/>
                  </a:cubicBezTo>
                  <a:lnTo>
                    <a:pt x="675259" y="1333627"/>
                  </a:lnTo>
                  <a:lnTo>
                    <a:pt x="675259" y="1350518"/>
                  </a:lnTo>
                  <a:cubicBezTo>
                    <a:pt x="302387" y="1350645"/>
                    <a:pt x="0" y="1048258"/>
                    <a:pt x="0" y="675259"/>
                  </a:cubicBezTo>
                  <a:lnTo>
                    <a:pt x="16891" y="675259"/>
                  </a:lnTo>
                  <a:lnTo>
                    <a:pt x="33909" y="675259"/>
                  </a:lnTo>
                  <a:lnTo>
                    <a:pt x="16891" y="675259"/>
                  </a:lnTo>
                  <a:lnTo>
                    <a:pt x="0" y="675259"/>
                  </a:lnTo>
                  <a:moveTo>
                    <a:pt x="33909" y="675259"/>
                  </a:moveTo>
                  <a:cubicBezTo>
                    <a:pt x="33909" y="684657"/>
                    <a:pt x="26289" y="692150"/>
                    <a:pt x="17018" y="692150"/>
                  </a:cubicBezTo>
                  <a:cubicBezTo>
                    <a:pt x="7747" y="692150"/>
                    <a:pt x="0" y="684657"/>
                    <a:pt x="0" y="675259"/>
                  </a:cubicBezTo>
                  <a:cubicBezTo>
                    <a:pt x="0" y="665861"/>
                    <a:pt x="7620" y="658368"/>
                    <a:pt x="16891" y="658368"/>
                  </a:cubicBezTo>
                  <a:cubicBezTo>
                    <a:pt x="26162" y="658368"/>
                    <a:pt x="33782" y="665988"/>
                    <a:pt x="33782" y="675259"/>
                  </a:cubicBezTo>
                  <a:cubicBezTo>
                    <a:pt x="33782" y="1029462"/>
                    <a:pt x="320929" y="1316736"/>
                    <a:pt x="675259" y="1316736"/>
                  </a:cubicBezTo>
                  <a:cubicBezTo>
                    <a:pt x="1029462" y="1316736"/>
                    <a:pt x="1316736" y="1029589"/>
                    <a:pt x="1316736" y="675259"/>
                  </a:cubicBezTo>
                  <a:cubicBezTo>
                    <a:pt x="1316736" y="321056"/>
                    <a:pt x="1029589" y="33782"/>
                    <a:pt x="675259" y="33782"/>
                  </a:cubicBezTo>
                  <a:lnTo>
                    <a:pt x="675259" y="16891"/>
                  </a:lnTo>
                  <a:lnTo>
                    <a:pt x="675259" y="33909"/>
                  </a:lnTo>
                  <a:cubicBezTo>
                    <a:pt x="321056" y="33909"/>
                    <a:pt x="33909" y="321056"/>
                    <a:pt x="33909" y="675259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01952" y="1792224"/>
            <a:ext cx="987552" cy="987552"/>
            <a:chOff x="0" y="0"/>
            <a:chExt cx="1316736" cy="1316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16736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1792" y="2889504"/>
            <a:ext cx="3547872" cy="987552"/>
            <a:chOff x="0" y="0"/>
            <a:chExt cx="4730496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30496" cy="1316736"/>
            </a:xfrm>
            <a:custGeom>
              <a:avLst/>
              <a:gdLst/>
              <a:ahLst/>
              <a:cxnLst/>
              <a:rect r="r" b="b" t="t" l="l"/>
              <a:pathLst>
                <a:path h="1316736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1" r="0" b="-200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730496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Data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" y="3986784"/>
            <a:ext cx="3547872" cy="1938528"/>
            <a:chOff x="0" y="0"/>
            <a:chExt cx="4730496" cy="25847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30496" cy="2584704"/>
            </a:xfrm>
            <a:custGeom>
              <a:avLst/>
              <a:gdLst/>
              <a:ahLst/>
              <a:cxnLst/>
              <a:rect r="r" b="b" t="t" l="l"/>
              <a:pathLst>
                <a:path h="2584704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104" t="0" r="-2010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730496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Blood flow, venous pressure, recirculation rate, access age, comorbidities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63717" y="3888229"/>
            <a:ext cx="453133" cy="50797"/>
            <a:chOff x="0" y="0"/>
            <a:chExt cx="604177" cy="67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3909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778759" y="1706375"/>
            <a:ext cx="4012187" cy="4414523"/>
            <a:chOff x="0" y="0"/>
            <a:chExt cx="5349583" cy="58860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315712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49494" cy="5885942"/>
            </a:xfrm>
            <a:custGeom>
              <a:avLst/>
              <a:gdLst/>
              <a:ahLst/>
              <a:cxnLst/>
              <a:rect r="r" b="b" t="t" l="l"/>
              <a:pathLst>
                <a:path h="588594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5869051"/>
                  </a:lnTo>
                  <a:cubicBezTo>
                    <a:pt x="5349494" y="5878449"/>
                    <a:pt x="5341874" y="5885942"/>
                    <a:pt x="5332603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5332603" y="5852160"/>
                  </a:lnTo>
                  <a:lnTo>
                    <a:pt x="5332603" y="5869051"/>
                  </a:lnTo>
                  <a:lnTo>
                    <a:pt x="5315712" y="586905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278375" y="1779527"/>
            <a:ext cx="1012955" cy="1012955"/>
            <a:chOff x="0" y="0"/>
            <a:chExt cx="1350607" cy="13506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lnTo>
                    <a:pt x="675259" y="16891"/>
                  </a:lnTo>
                  <a:lnTo>
                    <a:pt x="675259" y="0"/>
                  </a:lnTo>
                  <a:cubicBezTo>
                    <a:pt x="1048258" y="0"/>
                    <a:pt x="1350518" y="302387"/>
                    <a:pt x="1350518" y="675259"/>
                  </a:cubicBezTo>
                  <a:lnTo>
                    <a:pt x="1333627" y="675259"/>
                  </a:lnTo>
                  <a:lnTo>
                    <a:pt x="1350518" y="675259"/>
                  </a:lnTo>
                  <a:cubicBezTo>
                    <a:pt x="1350518" y="1048258"/>
                    <a:pt x="1048131" y="1350518"/>
                    <a:pt x="675259" y="1350518"/>
                  </a:cubicBezTo>
                  <a:lnTo>
                    <a:pt x="675259" y="1333627"/>
                  </a:lnTo>
                  <a:lnTo>
                    <a:pt x="675259" y="1350518"/>
                  </a:lnTo>
                  <a:cubicBezTo>
                    <a:pt x="302387" y="1350645"/>
                    <a:pt x="0" y="1048258"/>
                    <a:pt x="0" y="675259"/>
                  </a:cubicBezTo>
                  <a:lnTo>
                    <a:pt x="16891" y="675259"/>
                  </a:lnTo>
                  <a:lnTo>
                    <a:pt x="33909" y="675259"/>
                  </a:lnTo>
                  <a:lnTo>
                    <a:pt x="16891" y="675259"/>
                  </a:lnTo>
                  <a:lnTo>
                    <a:pt x="0" y="675259"/>
                  </a:lnTo>
                  <a:moveTo>
                    <a:pt x="33909" y="675259"/>
                  </a:moveTo>
                  <a:cubicBezTo>
                    <a:pt x="33909" y="684657"/>
                    <a:pt x="26289" y="692150"/>
                    <a:pt x="17018" y="692150"/>
                  </a:cubicBezTo>
                  <a:cubicBezTo>
                    <a:pt x="7747" y="692150"/>
                    <a:pt x="0" y="684657"/>
                    <a:pt x="0" y="675259"/>
                  </a:cubicBezTo>
                  <a:cubicBezTo>
                    <a:pt x="0" y="665861"/>
                    <a:pt x="7620" y="658368"/>
                    <a:pt x="16891" y="658368"/>
                  </a:cubicBezTo>
                  <a:cubicBezTo>
                    <a:pt x="26162" y="658368"/>
                    <a:pt x="33782" y="665988"/>
                    <a:pt x="33782" y="675259"/>
                  </a:cubicBezTo>
                  <a:cubicBezTo>
                    <a:pt x="33782" y="1029462"/>
                    <a:pt x="320929" y="1316736"/>
                    <a:pt x="675259" y="1316736"/>
                  </a:cubicBezTo>
                  <a:cubicBezTo>
                    <a:pt x="1029462" y="1316736"/>
                    <a:pt x="1316736" y="1029589"/>
                    <a:pt x="1316736" y="675259"/>
                  </a:cubicBezTo>
                  <a:cubicBezTo>
                    <a:pt x="1316736" y="321056"/>
                    <a:pt x="1029589" y="33782"/>
                    <a:pt x="675259" y="33782"/>
                  </a:cubicBezTo>
                  <a:lnTo>
                    <a:pt x="675259" y="16891"/>
                  </a:lnTo>
                  <a:lnTo>
                    <a:pt x="675259" y="33909"/>
                  </a:lnTo>
                  <a:cubicBezTo>
                    <a:pt x="321056" y="33909"/>
                    <a:pt x="33909" y="321056"/>
                    <a:pt x="33909" y="675259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291072" y="1792224"/>
            <a:ext cx="987552" cy="987552"/>
            <a:chOff x="0" y="0"/>
            <a:chExt cx="1316736" cy="13167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316736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010912" y="2889504"/>
            <a:ext cx="3547872" cy="987552"/>
            <a:chOff x="0" y="0"/>
            <a:chExt cx="4730496" cy="13167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30496" cy="1316736"/>
            </a:xfrm>
            <a:custGeom>
              <a:avLst/>
              <a:gdLst/>
              <a:ahLst/>
              <a:cxnLst/>
              <a:rect r="r" b="b" t="t" l="l"/>
              <a:pathLst>
                <a:path h="1316736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1" r="0" b="-200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730496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Risk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010912" y="3986784"/>
            <a:ext cx="3547872" cy="1938528"/>
            <a:chOff x="0" y="0"/>
            <a:chExt cx="4730496" cy="2584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30496" cy="2584704"/>
            </a:xfrm>
            <a:custGeom>
              <a:avLst/>
              <a:gdLst/>
              <a:ahLst/>
              <a:cxnLst/>
              <a:rect r="r" b="b" t="t" l="l"/>
              <a:pathLst>
                <a:path h="2584704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104" t="0" r="-2010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730496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 Regression or Random Forest model returns a failure probability (0–100%)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752837" y="3888229"/>
            <a:ext cx="453133" cy="50797"/>
            <a:chOff x="0" y="0"/>
            <a:chExt cx="604177" cy="677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3909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67879" y="1706375"/>
            <a:ext cx="4012187" cy="4414523"/>
            <a:chOff x="0" y="0"/>
            <a:chExt cx="5349583" cy="58860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5315712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49494" cy="5885942"/>
            </a:xfrm>
            <a:custGeom>
              <a:avLst/>
              <a:gdLst/>
              <a:ahLst/>
              <a:cxnLst/>
              <a:rect r="r" b="b" t="t" l="l"/>
              <a:pathLst>
                <a:path h="588594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5869051"/>
                  </a:lnTo>
                  <a:cubicBezTo>
                    <a:pt x="5349494" y="5878449"/>
                    <a:pt x="5341874" y="5885942"/>
                    <a:pt x="5332603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5332603" y="5852160"/>
                  </a:lnTo>
                  <a:lnTo>
                    <a:pt x="5332603" y="5869051"/>
                  </a:lnTo>
                  <a:lnTo>
                    <a:pt x="5315712" y="586905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667495" y="1779527"/>
            <a:ext cx="1012955" cy="1012955"/>
            <a:chOff x="0" y="0"/>
            <a:chExt cx="1350607" cy="135060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lnTo>
                    <a:pt x="675259" y="16891"/>
                  </a:lnTo>
                  <a:lnTo>
                    <a:pt x="675259" y="0"/>
                  </a:lnTo>
                  <a:cubicBezTo>
                    <a:pt x="1048258" y="0"/>
                    <a:pt x="1350518" y="302387"/>
                    <a:pt x="1350518" y="675259"/>
                  </a:cubicBezTo>
                  <a:lnTo>
                    <a:pt x="1333627" y="675259"/>
                  </a:lnTo>
                  <a:lnTo>
                    <a:pt x="1350518" y="675259"/>
                  </a:lnTo>
                  <a:cubicBezTo>
                    <a:pt x="1350518" y="1048258"/>
                    <a:pt x="1048131" y="1350518"/>
                    <a:pt x="675259" y="1350518"/>
                  </a:cubicBezTo>
                  <a:lnTo>
                    <a:pt x="675259" y="1333627"/>
                  </a:lnTo>
                  <a:lnTo>
                    <a:pt x="675259" y="1350518"/>
                  </a:lnTo>
                  <a:cubicBezTo>
                    <a:pt x="302387" y="1350645"/>
                    <a:pt x="0" y="1048258"/>
                    <a:pt x="0" y="675259"/>
                  </a:cubicBezTo>
                  <a:lnTo>
                    <a:pt x="16891" y="675259"/>
                  </a:lnTo>
                  <a:lnTo>
                    <a:pt x="33909" y="675259"/>
                  </a:lnTo>
                  <a:lnTo>
                    <a:pt x="16891" y="675259"/>
                  </a:lnTo>
                  <a:lnTo>
                    <a:pt x="0" y="675259"/>
                  </a:lnTo>
                  <a:moveTo>
                    <a:pt x="33909" y="675259"/>
                  </a:moveTo>
                  <a:cubicBezTo>
                    <a:pt x="33909" y="684657"/>
                    <a:pt x="26289" y="692150"/>
                    <a:pt x="17018" y="692150"/>
                  </a:cubicBezTo>
                  <a:cubicBezTo>
                    <a:pt x="7747" y="692150"/>
                    <a:pt x="0" y="684657"/>
                    <a:pt x="0" y="675259"/>
                  </a:cubicBezTo>
                  <a:cubicBezTo>
                    <a:pt x="0" y="665861"/>
                    <a:pt x="7620" y="658368"/>
                    <a:pt x="16891" y="658368"/>
                  </a:cubicBezTo>
                  <a:cubicBezTo>
                    <a:pt x="26162" y="658368"/>
                    <a:pt x="33782" y="665988"/>
                    <a:pt x="33782" y="675259"/>
                  </a:cubicBezTo>
                  <a:cubicBezTo>
                    <a:pt x="33782" y="1029462"/>
                    <a:pt x="320929" y="1316736"/>
                    <a:pt x="675259" y="1316736"/>
                  </a:cubicBezTo>
                  <a:cubicBezTo>
                    <a:pt x="1029462" y="1316736"/>
                    <a:pt x="1316736" y="1029589"/>
                    <a:pt x="1316736" y="675259"/>
                  </a:cubicBezTo>
                  <a:cubicBezTo>
                    <a:pt x="1316736" y="321056"/>
                    <a:pt x="1029589" y="33782"/>
                    <a:pt x="675259" y="33782"/>
                  </a:cubicBezTo>
                  <a:lnTo>
                    <a:pt x="675259" y="16891"/>
                  </a:lnTo>
                  <a:lnTo>
                    <a:pt x="675259" y="33909"/>
                  </a:lnTo>
                  <a:cubicBezTo>
                    <a:pt x="321056" y="33909"/>
                    <a:pt x="33909" y="321056"/>
                    <a:pt x="33909" y="675259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680192" y="1792224"/>
            <a:ext cx="987552" cy="987552"/>
            <a:chOff x="0" y="0"/>
            <a:chExt cx="1316736" cy="13167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316736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00032" y="2889504"/>
            <a:ext cx="3547872" cy="987552"/>
            <a:chOff x="0" y="0"/>
            <a:chExt cx="4730496" cy="13167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30496" cy="1316736"/>
            </a:xfrm>
            <a:custGeom>
              <a:avLst/>
              <a:gdLst/>
              <a:ahLst/>
              <a:cxnLst/>
              <a:rect r="r" b="b" t="t" l="l"/>
              <a:pathLst>
                <a:path h="1316736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1" r="0" b="-2000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4730496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00032" y="3986784"/>
            <a:ext cx="3547872" cy="1938528"/>
            <a:chOff x="0" y="0"/>
            <a:chExt cx="4730496" cy="25847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30496" cy="2584704"/>
            </a:xfrm>
            <a:custGeom>
              <a:avLst/>
              <a:gdLst/>
              <a:ahLst/>
              <a:cxnLst/>
              <a:rect r="r" b="b" t="t" l="l"/>
              <a:pathLst>
                <a:path h="2584704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104" t="0" r="-2010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730496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Threshold-tuned alert: Low / Moderate / High — optimised to catch 91-94% of true failures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141957" y="3888229"/>
            <a:ext cx="453133" cy="50797"/>
            <a:chOff x="0" y="0"/>
            <a:chExt cx="604177" cy="6772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33909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556999" y="1706375"/>
            <a:ext cx="4012187" cy="4414523"/>
            <a:chOff x="0" y="0"/>
            <a:chExt cx="5349583" cy="58860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315712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49494" cy="5885942"/>
            </a:xfrm>
            <a:custGeom>
              <a:avLst/>
              <a:gdLst/>
              <a:ahLst/>
              <a:cxnLst/>
              <a:rect r="r" b="b" t="t" l="l"/>
              <a:pathLst>
                <a:path h="588594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5869051"/>
                  </a:lnTo>
                  <a:cubicBezTo>
                    <a:pt x="5349494" y="5878449"/>
                    <a:pt x="5341874" y="5885942"/>
                    <a:pt x="5332603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5332603" y="5852160"/>
                  </a:lnTo>
                  <a:lnTo>
                    <a:pt x="5332603" y="5869051"/>
                  </a:lnTo>
                  <a:lnTo>
                    <a:pt x="5315712" y="586905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056615" y="1779527"/>
            <a:ext cx="1012955" cy="1012955"/>
            <a:chOff x="0" y="0"/>
            <a:chExt cx="1350607" cy="135060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50518" cy="1350518"/>
            </a:xfrm>
            <a:custGeom>
              <a:avLst/>
              <a:gdLst/>
              <a:ahLst/>
              <a:cxnLst/>
              <a:rect r="r" b="b" t="t" l="l"/>
              <a:pathLst>
                <a:path h="1350518" w="1350518">
                  <a:moveTo>
                    <a:pt x="0" y="675259"/>
                  </a:moveTo>
                  <a:cubicBezTo>
                    <a:pt x="0" y="302387"/>
                    <a:pt x="302387" y="0"/>
                    <a:pt x="675259" y="0"/>
                  </a:cubicBezTo>
                  <a:lnTo>
                    <a:pt x="675259" y="16891"/>
                  </a:lnTo>
                  <a:lnTo>
                    <a:pt x="675259" y="0"/>
                  </a:lnTo>
                  <a:cubicBezTo>
                    <a:pt x="1048258" y="0"/>
                    <a:pt x="1350518" y="302387"/>
                    <a:pt x="1350518" y="675259"/>
                  </a:cubicBezTo>
                  <a:lnTo>
                    <a:pt x="1333627" y="675259"/>
                  </a:lnTo>
                  <a:lnTo>
                    <a:pt x="1350518" y="675259"/>
                  </a:lnTo>
                  <a:cubicBezTo>
                    <a:pt x="1350518" y="1048258"/>
                    <a:pt x="1048131" y="1350518"/>
                    <a:pt x="675259" y="1350518"/>
                  </a:cubicBezTo>
                  <a:lnTo>
                    <a:pt x="675259" y="1333627"/>
                  </a:lnTo>
                  <a:lnTo>
                    <a:pt x="675259" y="1350518"/>
                  </a:lnTo>
                  <a:cubicBezTo>
                    <a:pt x="302387" y="1350645"/>
                    <a:pt x="0" y="1048258"/>
                    <a:pt x="0" y="675259"/>
                  </a:cubicBezTo>
                  <a:lnTo>
                    <a:pt x="16891" y="675259"/>
                  </a:lnTo>
                  <a:lnTo>
                    <a:pt x="33909" y="675259"/>
                  </a:lnTo>
                  <a:lnTo>
                    <a:pt x="16891" y="675259"/>
                  </a:lnTo>
                  <a:lnTo>
                    <a:pt x="0" y="675259"/>
                  </a:lnTo>
                  <a:moveTo>
                    <a:pt x="33909" y="675259"/>
                  </a:moveTo>
                  <a:cubicBezTo>
                    <a:pt x="33909" y="684657"/>
                    <a:pt x="26289" y="692150"/>
                    <a:pt x="17018" y="692150"/>
                  </a:cubicBezTo>
                  <a:cubicBezTo>
                    <a:pt x="7747" y="692150"/>
                    <a:pt x="0" y="684657"/>
                    <a:pt x="0" y="675259"/>
                  </a:cubicBezTo>
                  <a:cubicBezTo>
                    <a:pt x="0" y="665861"/>
                    <a:pt x="7620" y="658368"/>
                    <a:pt x="16891" y="658368"/>
                  </a:cubicBezTo>
                  <a:cubicBezTo>
                    <a:pt x="26162" y="658368"/>
                    <a:pt x="33782" y="665988"/>
                    <a:pt x="33782" y="675259"/>
                  </a:cubicBezTo>
                  <a:cubicBezTo>
                    <a:pt x="33782" y="1029462"/>
                    <a:pt x="320929" y="1316736"/>
                    <a:pt x="675259" y="1316736"/>
                  </a:cubicBezTo>
                  <a:cubicBezTo>
                    <a:pt x="1029462" y="1316736"/>
                    <a:pt x="1316736" y="1029589"/>
                    <a:pt x="1316736" y="675259"/>
                  </a:cubicBezTo>
                  <a:cubicBezTo>
                    <a:pt x="1316736" y="321056"/>
                    <a:pt x="1029589" y="33782"/>
                    <a:pt x="675259" y="33782"/>
                  </a:cubicBezTo>
                  <a:lnTo>
                    <a:pt x="675259" y="16891"/>
                  </a:lnTo>
                  <a:lnTo>
                    <a:pt x="675259" y="33909"/>
                  </a:lnTo>
                  <a:cubicBezTo>
                    <a:pt x="321056" y="33909"/>
                    <a:pt x="33909" y="321056"/>
                    <a:pt x="33909" y="675259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5069312" y="1792224"/>
            <a:ext cx="987552" cy="987552"/>
            <a:chOff x="0" y="0"/>
            <a:chExt cx="1316736" cy="13167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316736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89152" y="2889504"/>
            <a:ext cx="3547872" cy="987552"/>
            <a:chOff x="0" y="0"/>
            <a:chExt cx="4730496" cy="13167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30496" cy="1316736"/>
            </a:xfrm>
            <a:custGeom>
              <a:avLst/>
              <a:gdLst/>
              <a:ahLst/>
              <a:cxnLst/>
              <a:rect r="r" b="b" t="t" l="l"/>
              <a:pathLst>
                <a:path h="1316736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1" r="0" b="-2000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4730496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89152" y="3986784"/>
            <a:ext cx="3547872" cy="1938528"/>
            <a:chOff x="0" y="0"/>
            <a:chExt cx="4730496" cy="25847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30496" cy="2584704"/>
            </a:xfrm>
            <a:custGeom>
              <a:avLst/>
              <a:gdLst/>
              <a:ahLst/>
              <a:cxnLst/>
              <a:rect r="r" b="b" t="t" l="l"/>
              <a:pathLst>
                <a:path h="2584704" w="4730496">
                  <a:moveTo>
                    <a:pt x="0" y="0"/>
                  </a:moveTo>
                  <a:lnTo>
                    <a:pt x="4730496" y="0"/>
                  </a:lnTo>
                  <a:lnTo>
                    <a:pt x="4730496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104" t="0" r="-20104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730496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Nephrologist reviews flagged patients → schedules angioplasty, graft revision, or monitoring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7200" y="6400800"/>
            <a:ext cx="17373600" cy="512064"/>
            <a:chOff x="0" y="0"/>
            <a:chExt cx="2316480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16480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099" r="0" b="-61109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23164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MODEL SEES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35943" y="7046471"/>
            <a:ext cx="8437883" cy="830075"/>
            <a:chOff x="0" y="0"/>
            <a:chExt cx="11250511" cy="110676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1216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2504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89787"/>
                  </a:lnTo>
                  <a:cubicBezTo>
                    <a:pt x="11250422" y="1099185"/>
                    <a:pt x="11242802" y="1106678"/>
                    <a:pt x="112335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1233531" y="1072896"/>
                  </a:lnTo>
                  <a:lnTo>
                    <a:pt x="11233531" y="1089787"/>
                  </a:lnTo>
                  <a:lnTo>
                    <a:pt x="11216640" y="108978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18823" y="7229351"/>
            <a:ext cx="464315" cy="464315"/>
            <a:chOff x="0" y="0"/>
            <a:chExt cx="619087" cy="61908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53312" y="7168896"/>
            <a:ext cx="4023360" cy="585216"/>
            <a:chOff x="0" y="0"/>
            <a:chExt cx="5364480" cy="78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3644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Blood Flow Rate (mL/min)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49824" y="7168896"/>
            <a:ext cx="3291840" cy="585216"/>
            <a:chOff x="0" y="0"/>
            <a:chExt cx="4389120" cy="78028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Below 300 → access narrowing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35943" y="7997447"/>
            <a:ext cx="8437883" cy="830075"/>
            <a:chOff x="0" y="0"/>
            <a:chExt cx="11250511" cy="110676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1216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2504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89787"/>
                  </a:lnTo>
                  <a:cubicBezTo>
                    <a:pt x="11250422" y="1099185"/>
                    <a:pt x="11242802" y="1106678"/>
                    <a:pt x="112335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1233531" y="1072896"/>
                  </a:lnTo>
                  <a:lnTo>
                    <a:pt x="11233531" y="1089787"/>
                  </a:lnTo>
                  <a:lnTo>
                    <a:pt x="11216640" y="108978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18823" y="8180327"/>
            <a:ext cx="464315" cy="464315"/>
            <a:chOff x="0" y="0"/>
            <a:chExt cx="619087" cy="61908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53312" y="8119872"/>
            <a:ext cx="4023360" cy="585216"/>
            <a:chOff x="0" y="0"/>
            <a:chExt cx="5364480" cy="7802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3644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Venous Pressure (mmHg)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449824" y="8119872"/>
            <a:ext cx="3291840" cy="585216"/>
            <a:chOff x="0" y="0"/>
            <a:chExt cx="4389120" cy="78028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Above 200 → outflow stenosis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35943" y="8948423"/>
            <a:ext cx="8437883" cy="830075"/>
            <a:chOff x="0" y="0"/>
            <a:chExt cx="11250511" cy="110676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1216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2504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89787"/>
                  </a:lnTo>
                  <a:cubicBezTo>
                    <a:pt x="11250422" y="1099185"/>
                    <a:pt x="11242802" y="1106678"/>
                    <a:pt x="112335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1233531" y="1072896"/>
                  </a:lnTo>
                  <a:lnTo>
                    <a:pt x="11233531" y="1089787"/>
                  </a:lnTo>
                  <a:lnTo>
                    <a:pt x="11216640" y="108978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718823" y="9131303"/>
            <a:ext cx="464315" cy="464315"/>
            <a:chOff x="0" y="0"/>
            <a:chExt cx="619087" cy="61908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53312" y="9070848"/>
            <a:ext cx="4023360" cy="585216"/>
            <a:chOff x="0" y="0"/>
            <a:chExt cx="5364480" cy="7802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3644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Recirculation Rate (%)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449824" y="9070848"/>
            <a:ext cx="3291840" cy="585216"/>
            <a:chOff x="0" y="0"/>
            <a:chExt cx="4389120" cy="7802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Above 5% → blood bypassing filter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497063" y="7046471"/>
            <a:ext cx="8437883" cy="830075"/>
            <a:chOff x="0" y="0"/>
            <a:chExt cx="11250511" cy="110676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1216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2504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89787"/>
                  </a:lnTo>
                  <a:cubicBezTo>
                    <a:pt x="11250422" y="1099185"/>
                    <a:pt x="11242802" y="1106678"/>
                    <a:pt x="112335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1233531" y="1072896"/>
                  </a:lnTo>
                  <a:lnTo>
                    <a:pt x="11233531" y="1089787"/>
                  </a:lnTo>
                  <a:lnTo>
                    <a:pt x="11216640" y="108978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679943" y="7229351"/>
            <a:ext cx="464315" cy="464315"/>
            <a:chOff x="0" y="0"/>
            <a:chExt cx="619087" cy="61908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314432" y="7168896"/>
            <a:ext cx="4023360" cy="585216"/>
            <a:chOff x="0" y="0"/>
            <a:chExt cx="5364480" cy="7802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53644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Kt/V (dialysis adequacy)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410944" y="7168896"/>
            <a:ext cx="3291840" cy="585216"/>
            <a:chOff x="0" y="0"/>
            <a:chExt cx="4389120" cy="78028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Below 1.2 → access compromised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497063" y="7997447"/>
            <a:ext cx="8437883" cy="830075"/>
            <a:chOff x="0" y="0"/>
            <a:chExt cx="11250511" cy="1106767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216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2504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89787"/>
                  </a:lnTo>
                  <a:cubicBezTo>
                    <a:pt x="11250422" y="1099185"/>
                    <a:pt x="11242802" y="1106678"/>
                    <a:pt x="112335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1233531" y="1072896"/>
                  </a:lnTo>
                  <a:lnTo>
                    <a:pt x="11233531" y="1089787"/>
                  </a:lnTo>
                  <a:lnTo>
                    <a:pt x="11216640" y="108978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679943" y="8180327"/>
            <a:ext cx="464315" cy="464315"/>
            <a:chOff x="0" y="0"/>
            <a:chExt cx="619087" cy="61908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314432" y="8119872"/>
            <a:ext cx="4023360" cy="585216"/>
            <a:chOff x="0" y="0"/>
            <a:chExt cx="5364480" cy="78028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53644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Maturation Status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410944" y="8119872"/>
            <a:ext cx="3291840" cy="585216"/>
            <a:chOff x="0" y="0"/>
            <a:chExt cx="4389120" cy="7802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'Failing' → 17pp higher risk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497063" y="8948423"/>
            <a:ext cx="8437883" cy="830075"/>
            <a:chOff x="0" y="0"/>
            <a:chExt cx="11250511" cy="110676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1216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12504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89787"/>
                  </a:lnTo>
                  <a:cubicBezTo>
                    <a:pt x="11250422" y="1099185"/>
                    <a:pt x="11242802" y="1106678"/>
                    <a:pt x="112335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1233531" y="1072896"/>
                  </a:lnTo>
                  <a:lnTo>
                    <a:pt x="11233531" y="1089787"/>
                  </a:lnTo>
                  <a:lnTo>
                    <a:pt x="11216640" y="108978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679943" y="9131303"/>
            <a:ext cx="464315" cy="464315"/>
            <a:chOff x="0" y="0"/>
            <a:chExt cx="619087" cy="61908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314432" y="9070848"/>
            <a:ext cx="4023360" cy="585216"/>
            <a:chOff x="0" y="0"/>
            <a:chExt cx="5364480" cy="78028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3644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Surgeon Volume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4410944" y="9070848"/>
            <a:ext cx="3291840" cy="585216"/>
            <a:chOff x="0" y="0"/>
            <a:chExt cx="4389120" cy="78028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'Low' → 7pp higher risk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 — WHAT IT MEANS IN PRACTICE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Set: 450 patients, 140 true failures — real-world distribution (31% failure rate)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5328923" cy="2805179"/>
            <a:chOff x="0" y="0"/>
            <a:chExt cx="7105231" cy="37402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071360" cy="3706368"/>
            </a:xfrm>
            <a:custGeom>
              <a:avLst/>
              <a:gdLst/>
              <a:ahLst/>
              <a:cxnLst/>
              <a:rect r="r" b="b" t="t" l="l"/>
              <a:pathLst>
                <a:path h="37063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706368"/>
                  </a:lnTo>
                  <a:lnTo>
                    <a:pt x="0" y="3706368"/>
                  </a:lnTo>
                  <a:close/>
                </a:path>
              </a:pathLst>
            </a:custGeom>
            <a:solidFill>
              <a:srgbClr val="1A7A4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142" cy="3740150"/>
            </a:xfrm>
            <a:custGeom>
              <a:avLst/>
              <a:gdLst/>
              <a:ahLst/>
              <a:cxnLst/>
              <a:rect r="r" b="b" t="t" l="l"/>
              <a:pathLst>
                <a:path h="37401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723259"/>
                  </a:lnTo>
                  <a:cubicBezTo>
                    <a:pt x="7105142" y="3732657"/>
                    <a:pt x="7097522" y="3740150"/>
                    <a:pt x="7088251" y="3740150"/>
                  </a:cubicBezTo>
                  <a:lnTo>
                    <a:pt x="16891" y="3740150"/>
                  </a:lnTo>
                  <a:cubicBezTo>
                    <a:pt x="7493" y="3740150"/>
                    <a:pt x="0" y="3732530"/>
                    <a:pt x="0" y="3723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23259"/>
                  </a:lnTo>
                  <a:lnTo>
                    <a:pt x="16891" y="3723259"/>
                  </a:lnTo>
                  <a:lnTo>
                    <a:pt x="16891" y="3706368"/>
                  </a:lnTo>
                  <a:lnTo>
                    <a:pt x="7088251" y="3706368"/>
                  </a:lnTo>
                  <a:lnTo>
                    <a:pt x="7088251" y="3723259"/>
                  </a:lnTo>
                  <a:lnTo>
                    <a:pt x="7071360" y="37232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755648"/>
            <a:ext cx="5303520" cy="1389888"/>
            <a:chOff x="0" y="0"/>
            <a:chExt cx="7071360" cy="1853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1360" cy="1853184"/>
            </a:xfrm>
            <a:custGeom>
              <a:avLst/>
              <a:gdLst/>
              <a:ahLst/>
              <a:cxnLst/>
              <a:rect r="r" b="b" t="t" l="l"/>
              <a:pathLst>
                <a:path h="18531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42875"/>
              <a:ext cx="7071360" cy="1996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91–94%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3108960"/>
            <a:ext cx="5303520" cy="1133856"/>
            <a:chOff x="0" y="0"/>
            <a:chExt cx="7071360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failures caught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they occur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88103" y="1633223"/>
            <a:ext cx="5328923" cy="2805179"/>
            <a:chOff x="0" y="0"/>
            <a:chExt cx="7105231" cy="37402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071360" cy="3706368"/>
            </a:xfrm>
            <a:custGeom>
              <a:avLst/>
              <a:gdLst/>
              <a:ahLst/>
              <a:cxnLst/>
              <a:rect r="r" b="b" t="t" l="l"/>
              <a:pathLst>
                <a:path h="37063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706368"/>
                  </a:lnTo>
                  <a:lnTo>
                    <a:pt x="0" y="3706368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5142" cy="3740150"/>
            </a:xfrm>
            <a:custGeom>
              <a:avLst/>
              <a:gdLst/>
              <a:ahLst/>
              <a:cxnLst/>
              <a:rect r="r" b="b" t="t" l="l"/>
              <a:pathLst>
                <a:path h="37401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723259"/>
                  </a:lnTo>
                  <a:cubicBezTo>
                    <a:pt x="7105142" y="3732657"/>
                    <a:pt x="7097522" y="3740150"/>
                    <a:pt x="7088251" y="3740150"/>
                  </a:cubicBezTo>
                  <a:lnTo>
                    <a:pt x="16891" y="3740150"/>
                  </a:lnTo>
                  <a:cubicBezTo>
                    <a:pt x="7493" y="3740150"/>
                    <a:pt x="0" y="3732530"/>
                    <a:pt x="0" y="3723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23259"/>
                  </a:lnTo>
                  <a:lnTo>
                    <a:pt x="16891" y="3723259"/>
                  </a:lnTo>
                  <a:lnTo>
                    <a:pt x="16891" y="3706368"/>
                  </a:lnTo>
                  <a:lnTo>
                    <a:pt x="7088251" y="3706368"/>
                  </a:lnTo>
                  <a:lnTo>
                    <a:pt x="7088251" y="3723259"/>
                  </a:lnTo>
                  <a:lnTo>
                    <a:pt x="7071360" y="37232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0" y="1755648"/>
            <a:ext cx="5303520" cy="1389888"/>
            <a:chOff x="0" y="0"/>
            <a:chExt cx="7071360" cy="1853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1853184"/>
            </a:xfrm>
            <a:custGeom>
              <a:avLst/>
              <a:gdLst/>
              <a:ahLst/>
              <a:cxnLst/>
              <a:rect r="r" b="b" t="t" l="l"/>
              <a:pathLst>
                <a:path h="18531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42875"/>
              <a:ext cx="7071360" cy="1996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≈ 8–17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0" y="3108960"/>
            <a:ext cx="5303520" cy="1133856"/>
            <a:chOff x="0" y="0"/>
            <a:chExt cx="7071360" cy="1511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failures missed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 of 140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40263" y="1633223"/>
            <a:ext cx="5328923" cy="2805179"/>
            <a:chOff x="0" y="0"/>
            <a:chExt cx="7105231" cy="37402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071360" cy="3706368"/>
            </a:xfrm>
            <a:custGeom>
              <a:avLst/>
              <a:gdLst/>
              <a:ahLst/>
              <a:cxnLst/>
              <a:rect r="r" b="b" t="t" l="l"/>
              <a:pathLst>
                <a:path h="37063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706368"/>
                  </a:lnTo>
                  <a:lnTo>
                    <a:pt x="0" y="370636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05142" cy="3740150"/>
            </a:xfrm>
            <a:custGeom>
              <a:avLst/>
              <a:gdLst/>
              <a:ahLst/>
              <a:cxnLst/>
              <a:rect r="r" b="b" t="t" l="l"/>
              <a:pathLst>
                <a:path h="37401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723259"/>
                  </a:lnTo>
                  <a:cubicBezTo>
                    <a:pt x="7105142" y="3732657"/>
                    <a:pt x="7097522" y="3740150"/>
                    <a:pt x="7088251" y="3740150"/>
                  </a:cubicBezTo>
                  <a:lnTo>
                    <a:pt x="16891" y="3740150"/>
                  </a:lnTo>
                  <a:cubicBezTo>
                    <a:pt x="7493" y="3740150"/>
                    <a:pt x="0" y="3732530"/>
                    <a:pt x="0" y="3723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23259"/>
                  </a:lnTo>
                  <a:lnTo>
                    <a:pt x="16891" y="3723259"/>
                  </a:lnTo>
                  <a:lnTo>
                    <a:pt x="16891" y="3706368"/>
                  </a:lnTo>
                  <a:lnTo>
                    <a:pt x="7088251" y="3706368"/>
                  </a:lnTo>
                  <a:lnTo>
                    <a:pt x="7088251" y="3723259"/>
                  </a:lnTo>
                  <a:lnTo>
                    <a:pt x="7071360" y="37232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52960" y="1755648"/>
            <a:ext cx="5303520" cy="1389888"/>
            <a:chOff x="0" y="0"/>
            <a:chExt cx="7071360" cy="18531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1853184"/>
            </a:xfrm>
            <a:custGeom>
              <a:avLst/>
              <a:gdLst/>
              <a:ahLst/>
              <a:cxnLst/>
              <a:rect r="r" b="b" t="t" l="l"/>
              <a:pathLst>
                <a:path h="18531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42875"/>
              <a:ext cx="7071360" cy="1996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52960" y="3108960"/>
            <a:ext cx="5303520" cy="1133856"/>
            <a:chOff x="0" y="0"/>
            <a:chExt cx="7071360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AUC-ROC — model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genuinely discriminates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4503" y="4669031"/>
            <a:ext cx="17399003" cy="5072891"/>
            <a:chOff x="0" y="0"/>
            <a:chExt cx="23198671" cy="67638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3164799" cy="6729984"/>
            </a:xfrm>
            <a:custGeom>
              <a:avLst/>
              <a:gdLst/>
              <a:ahLst/>
              <a:cxnLst/>
              <a:rect r="r" b="b" t="t" l="l"/>
              <a:pathLst>
                <a:path h="6729984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198582" cy="6763766"/>
            </a:xfrm>
            <a:custGeom>
              <a:avLst/>
              <a:gdLst/>
              <a:ahLst/>
              <a:cxnLst/>
              <a:rect r="r" b="b" t="t" l="l"/>
              <a:pathLst>
                <a:path h="6763766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6746875"/>
                  </a:lnTo>
                  <a:cubicBezTo>
                    <a:pt x="23198582" y="6756273"/>
                    <a:pt x="23190963" y="6763766"/>
                    <a:pt x="23181690" y="6763766"/>
                  </a:cubicBezTo>
                  <a:lnTo>
                    <a:pt x="16891" y="6763766"/>
                  </a:lnTo>
                  <a:cubicBezTo>
                    <a:pt x="7493" y="6763766"/>
                    <a:pt x="0" y="6756146"/>
                    <a:pt x="0" y="6746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46875"/>
                  </a:lnTo>
                  <a:lnTo>
                    <a:pt x="16891" y="6746875"/>
                  </a:lnTo>
                  <a:lnTo>
                    <a:pt x="16891" y="6729984"/>
                  </a:lnTo>
                  <a:lnTo>
                    <a:pt x="23181690" y="6729984"/>
                  </a:lnTo>
                  <a:lnTo>
                    <a:pt x="23181690" y="6746875"/>
                  </a:lnTo>
                  <a:lnTo>
                    <a:pt x="23164800" y="6746875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" y="4846320"/>
            <a:ext cx="17007840" cy="4718304"/>
            <a:chOff x="0" y="0"/>
            <a:chExt cx="22677120" cy="6291072"/>
          </a:xfrm>
        </p:grpSpPr>
        <p:sp>
          <p:nvSpPr>
            <p:cNvPr name="Freeform 42" id="42" descr="/sessions/keen-dreamy-ritchie/mnt/Doc Capstone Files/Dialysis_v2_Focus/figures/v2_16_model_f2_comparison.png"/>
            <p:cNvSpPr/>
            <p:nvPr/>
          </p:nvSpPr>
          <p:spPr>
            <a:xfrm flipH="false" flipV="false" rot="0">
              <a:off x="0" y="0"/>
              <a:ext cx="22677120" cy="6291072"/>
            </a:xfrm>
            <a:custGeom>
              <a:avLst/>
              <a:gdLst/>
              <a:ahLst/>
              <a:cxnLst/>
              <a:rect r="r" b="b" t="t" l="l"/>
              <a:pathLst>
                <a:path h="629107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291072"/>
                  </a:lnTo>
                  <a:lnTo>
                    <a:pt x="0" y="6291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46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48640" y="9802368"/>
            <a:ext cx="17190720" cy="402336"/>
            <a:chOff x="0" y="0"/>
            <a:chExt cx="22920960" cy="536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920961" cy="536448"/>
            </a:xfrm>
            <a:custGeom>
              <a:avLst/>
              <a:gdLst/>
              <a:ahLst/>
              <a:cxnLst/>
              <a:rect r="r" b="b" t="t" l="l"/>
              <a:pathLst>
                <a:path h="5364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2542" r="0" b="-78254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92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8F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F2-score aggressively weights recall — we penalise missed failures 2× more than false alarms. All models validated on unseen test data.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RISK FACTORS — WHAT DRIVES FAILURE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Clinically validated — every predictor aligns with established nephrology guidelines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8437883" cy="8072123"/>
            <a:chOff x="0" y="0"/>
            <a:chExt cx="11250511" cy="10762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10762742"/>
            </a:xfrm>
            <a:custGeom>
              <a:avLst/>
              <a:gdLst/>
              <a:ahLst/>
              <a:cxnLst/>
              <a:rect r="r" b="b" t="t" l="l"/>
              <a:pathLst>
                <a:path h="107627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745851"/>
                  </a:lnTo>
                  <a:cubicBezTo>
                    <a:pt x="11250422" y="10755249"/>
                    <a:pt x="11242802" y="10762742"/>
                    <a:pt x="11233531" y="10762742"/>
                  </a:cubicBezTo>
                  <a:lnTo>
                    <a:pt x="16891" y="10762742"/>
                  </a:lnTo>
                  <a:cubicBezTo>
                    <a:pt x="7493" y="10762742"/>
                    <a:pt x="0" y="10755122"/>
                    <a:pt x="0" y="10745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745851"/>
                  </a:lnTo>
                  <a:lnTo>
                    <a:pt x="16891" y="10745851"/>
                  </a:lnTo>
                  <a:lnTo>
                    <a:pt x="16891" y="10728960"/>
                  </a:lnTo>
                  <a:lnTo>
                    <a:pt x="11233531" y="10728960"/>
                  </a:lnTo>
                  <a:lnTo>
                    <a:pt x="11233531" y="10745851"/>
                  </a:lnTo>
                  <a:lnTo>
                    <a:pt x="11216640" y="107458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1755648"/>
            <a:ext cx="8046720" cy="548640"/>
            <a:chOff x="0" y="0"/>
            <a:chExt cx="107289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28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Failure Rate by Clinical Category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5216" y="2377440"/>
            <a:ext cx="8138160" cy="7022592"/>
            <a:chOff x="0" y="0"/>
            <a:chExt cx="10850880" cy="9363456"/>
          </a:xfrm>
        </p:grpSpPr>
        <p:sp>
          <p:nvSpPr>
            <p:cNvPr name="Freeform 18" id="18" descr="/sessions/keen-dreamy-ritchie/mnt/Doc Capstone Files/VascularGuard-ML/reports/figures/v2_11_dial_categorical_bivariate.png"/>
            <p:cNvSpPr/>
            <p:nvPr/>
          </p:nvSpPr>
          <p:spPr>
            <a:xfrm flipH="false" flipV="false" rot="0">
              <a:off x="0" y="0"/>
              <a:ext cx="10850880" cy="9363456"/>
            </a:xfrm>
            <a:custGeom>
              <a:avLst/>
              <a:gdLst/>
              <a:ahLst/>
              <a:cxnLst/>
              <a:rect r="r" b="b" t="t" l="l"/>
              <a:pathLst>
                <a:path h="9363456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363456"/>
                  </a:lnTo>
                  <a:lnTo>
                    <a:pt x="0" y="9363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263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09760" y="1755648"/>
            <a:ext cx="8046720" cy="548640"/>
            <a:chOff x="0" y="0"/>
            <a:chExt cx="1072896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728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Model's Top Feature Importances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8640" y="9729216"/>
            <a:ext cx="17190720" cy="402336"/>
            <a:chOff x="0" y="0"/>
            <a:chExt cx="22920960" cy="5364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920961" cy="536448"/>
            </a:xfrm>
            <a:custGeom>
              <a:avLst/>
              <a:gdLst/>
              <a:ahLst/>
              <a:cxnLst/>
              <a:rect r="r" b="b" t="t" l="l"/>
              <a:pathLst>
                <a:path h="5364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2542" r="0" b="-78254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92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8F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Left: EDA showing failure rate across access types and surgeon volume — actionable insight for referral policy. Right: model agrees.</a:t>
              </a:r>
            </a:p>
          </p:txBody>
        </p:sp>
      </p:grpSp>
      <p:sp>
        <p:nvSpPr>
          <p:cNvPr name="Freeform 25" id="25" descr="/sessions/keen-dreamy-ritchie/mnt/Doc Capstone Files/VascularGuard-ML/reports/figures/v2_18_dial_rf_feature_importance.png"/>
          <p:cNvSpPr/>
          <p:nvPr/>
        </p:nvSpPr>
        <p:spPr>
          <a:xfrm flipH="false" flipV="false" rot="0">
            <a:off x="9332779" y="2586108"/>
            <a:ext cx="8790946" cy="5215369"/>
          </a:xfrm>
          <a:custGeom>
            <a:avLst/>
            <a:gdLst/>
            <a:ahLst/>
            <a:cxnLst/>
            <a:rect r="r" b="b" t="t" l="l"/>
            <a:pathLst>
              <a:path h="5215369" w="8790946">
                <a:moveTo>
                  <a:pt x="0" y="0"/>
                </a:moveTo>
                <a:lnTo>
                  <a:pt x="8790946" y="0"/>
                </a:lnTo>
                <a:lnTo>
                  <a:pt x="8790946" y="5215368"/>
                </a:lnTo>
                <a:lnTo>
                  <a:pt x="0" y="5215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PATIENT-LEVEL EXPLANATION — "WHY THIS PATIENT?"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LIME provides clinician-readable explanations for every individual prediction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17399003" cy="6791963"/>
            <a:chOff x="0" y="0"/>
            <a:chExt cx="23198671" cy="90559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164799" cy="9022081"/>
            </a:xfrm>
            <a:custGeom>
              <a:avLst/>
              <a:gdLst/>
              <a:ahLst/>
              <a:cxnLst/>
              <a:rect r="r" b="b" t="t" l="l"/>
              <a:pathLst>
                <a:path h="9022081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98582" cy="9055862"/>
            </a:xfrm>
            <a:custGeom>
              <a:avLst/>
              <a:gdLst/>
              <a:ahLst/>
              <a:cxnLst/>
              <a:rect r="r" b="b" t="t" l="l"/>
              <a:pathLst>
                <a:path h="9055862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9038972"/>
                  </a:lnTo>
                  <a:cubicBezTo>
                    <a:pt x="23198582" y="9048369"/>
                    <a:pt x="23190963" y="9055862"/>
                    <a:pt x="23181690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23181690" y="9022080"/>
                  </a:lnTo>
                  <a:lnTo>
                    <a:pt x="23181690" y="9038972"/>
                  </a:lnTo>
                  <a:lnTo>
                    <a:pt x="23164800" y="9038972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5216" y="1755648"/>
            <a:ext cx="17099280" cy="6473952"/>
            <a:chOff x="0" y="0"/>
            <a:chExt cx="22799040" cy="8631936"/>
          </a:xfrm>
        </p:grpSpPr>
        <p:sp>
          <p:nvSpPr>
            <p:cNvPr name="Freeform 15" id="15" descr="/sessions/keen-dreamy-ritchie/mnt/Doc Capstone Files/Dialysis_v2_Focus/figures/lime_high_risk_patient.png"/>
            <p:cNvSpPr/>
            <p:nvPr/>
          </p:nvSpPr>
          <p:spPr>
            <a:xfrm flipH="false" flipV="false" rot="0">
              <a:off x="0" y="0"/>
              <a:ext cx="22799039" cy="8631936"/>
            </a:xfrm>
            <a:custGeom>
              <a:avLst/>
              <a:gdLst/>
              <a:ahLst/>
              <a:cxnLst/>
              <a:rect r="r" b="b" t="t" l="l"/>
              <a:pathLst>
                <a:path h="8631936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8631936"/>
                  </a:lnTo>
                  <a:lnTo>
                    <a:pt x="0" y="863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923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44503" y="8582663"/>
            <a:ext cx="17399003" cy="1378715"/>
            <a:chOff x="0" y="0"/>
            <a:chExt cx="23198671" cy="18382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3164799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198582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1821307"/>
                  </a:lnTo>
                  <a:cubicBezTo>
                    <a:pt x="23198582" y="1830705"/>
                    <a:pt x="23190963" y="1838198"/>
                    <a:pt x="23181690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181690" y="1804416"/>
                  </a:lnTo>
                  <a:lnTo>
                    <a:pt x="23181690" y="1821307"/>
                  </a:lnTo>
                  <a:lnTo>
                    <a:pt x="23164800" y="1821307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68096" y="8741664"/>
            <a:ext cx="16642080" cy="1060704"/>
            <a:chOff x="0" y="0"/>
            <a:chExt cx="22189440" cy="1414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2189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7B3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VALUE: </a:t>
              </a: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alert includes an explanation. Clinicians see exactly which measurements drove the risk flag — enabling </a:t>
              </a: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transparent, auditable, defensible clinical decisions.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FAIRNESS &amp; TRUST — WE CHECKED THE BIAS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 performs equitably across patient demographics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10632443" cy="5877563"/>
            <a:chOff x="0" y="0"/>
            <a:chExt cx="14176591" cy="7836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142719" cy="7802881"/>
            </a:xfrm>
            <a:custGeom>
              <a:avLst/>
              <a:gdLst/>
              <a:ahLst/>
              <a:cxnLst/>
              <a:rect r="r" b="b" t="t" l="l"/>
              <a:pathLst>
                <a:path h="7802881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76502" cy="7836662"/>
            </a:xfrm>
            <a:custGeom>
              <a:avLst/>
              <a:gdLst/>
              <a:ahLst/>
              <a:cxnLst/>
              <a:rect r="r" b="b" t="t" l="l"/>
              <a:pathLst>
                <a:path h="7836662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7819772"/>
                  </a:lnTo>
                  <a:cubicBezTo>
                    <a:pt x="14176502" y="7829169"/>
                    <a:pt x="14168882" y="7836662"/>
                    <a:pt x="14159610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4159610" y="7802880"/>
                  </a:lnTo>
                  <a:lnTo>
                    <a:pt x="14159610" y="7819772"/>
                  </a:lnTo>
                  <a:lnTo>
                    <a:pt x="14142720" y="7819772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5216" y="1755648"/>
            <a:ext cx="10332720" cy="5559552"/>
            <a:chOff x="0" y="0"/>
            <a:chExt cx="13776960" cy="7412736"/>
          </a:xfrm>
        </p:grpSpPr>
        <p:sp>
          <p:nvSpPr>
            <p:cNvPr name="Freeform 15" id="15" descr="/sessions/keen-dreamy-ritchie/mnt/Doc Capstone Files/VascularGuard-ML/reports/figures/30_bias_subgroup_f2.png"/>
            <p:cNvSpPr/>
            <p:nvPr/>
          </p:nvSpPr>
          <p:spPr>
            <a:xfrm flipH="false" flipV="false" rot="0">
              <a:off x="0" y="0"/>
              <a:ext cx="13776961" cy="7412736"/>
            </a:xfrm>
            <a:custGeom>
              <a:avLst/>
              <a:gdLst/>
              <a:ahLst/>
              <a:cxnLst/>
              <a:rect r="r" b="b" t="t" l="l"/>
              <a:pathLst>
                <a:path h="7412736" w="13776961">
                  <a:moveTo>
                    <a:pt x="0" y="0"/>
                  </a:moveTo>
                  <a:lnTo>
                    <a:pt x="13776961" y="0"/>
                  </a:lnTo>
                  <a:lnTo>
                    <a:pt x="13776961" y="7412736"/>
                  </a:lnTo>
                  <a:lnTo>
                    <a:pt x="0" y="741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91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17303" y="1669799"/>
            <a:ext cx="6426203" cy="1342139"/>
            <a:chOff x="0" y="0"/>
            <a:chExt cx="8568271" cy="17895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681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772539"/>
                  </a:lnTo>
                  <a:cubicBezTo>
                    <a:pt x="8568182" y="1781937"/>
                    <a:pt x="8560562" y="1789430"/>
                    <a:pt x="85512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8551291" y="1755648"/>
                  </a:lnTo>
                  <a:lnTo>
                    <a:pt x="8551291" y="1772539"/>
                  </a:lnTo>
                  <a:lnTo>
                    <a:pt x="8534400" y="177253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00183" y="1962407"/>
            <a:ext cx="756923" cy="756923"/>
            <a:chOff x="0" y="0"/>
            <a:chExt cx="1009231" cy="10092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A7A4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9269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12880" y="1975104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75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27280" y="1755648"/>
            <a:ext cx="5120640" cy="512064"/>
            <a:chOff x="0" y="0"/>
            <a:chExt cx="682752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Sex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27280" y="2304288"/>
            <a:ext cx="5120640" cy="548640"/>
            <a:chOff x="0" y="0"/>
            <a:chExt cx="68275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performance gap between male and female patients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17303" y="3132839"/>
            <a:ext cx="6426203" cy="1342139"/>
            <a:chOff x="0" y="0"/>
            <a:chExt cx="8568271" cy="17895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681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772539"/>
                  </a:lnTo>
                  <a:cubicBezTo>
                    <a:pt x="8568182" y="1781937"/>
                    <a:pt x="8560562" y="1789430"/>
                    <a:pt x="85512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8551291" y="1755648"/>
                  </a:lnTo>
                  <a:lnTo>
                    <a:pt x="8551291" y="1772539"/>
                  </a:lnTo>
                  <a:lnTo>
                    <a:pt x="8534400" y="177253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00183" y="3425447"/>
            <a:ext cx="756923" cy="756923"/>
            <a:chOff x="0" y="0"/>
            <a:chExt cx="1009231" cy="10092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A7A4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9269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2880" y="3438144"/>
            <a:ext cx="731520" cy="731520"/>
            <a:chOff x="0" y="0"/>
            <a:chExt cx="97536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75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527280" y="3218688"/>
            <a:ext cx="5120640" cy="512064"/>
            <a:chOff x="0" y="0"/>
            <a:chExt cx="682752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 Group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527280" y="3767328"/>
            <a:ext cx="5120640" cy="548640"/>
            <a:chOff x="0" y="0"/>
            <a:chExt cx="68275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Consistent recall across &lt;55, 55–70, 70+ cohorts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17303" y="4595879"/>
            <a:ext cx="6426203" cy="1342139"/>
            <a:chOff x="0" y="0"/>
            <a:chExt cx="8568271" cy="17895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681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772539"/>
                  </a:lnTo>
                  <a:cubicBezTo>
                    <a:pt x="8568182" y="1781937"/>
                    <a:pt x="8560562" y="1789430"/>
                    <a:pt x="85512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8551291" y="1755648"/>
                  </a:lnTo>
                  <a:lnTo>
                    <a:pt x="8551291" y="1772539"/>
                  </a:lnTo>
                  <a:lnTo>
                    <a:pt x="8534400" y="177253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00183" y="4888487"/>
            <a:ext cx="756923" cy="756923"/>
            <a:chOff x="0" y="0"/>
            <a:chExt cx="1009231" cy="1009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A7A4A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9269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612880" y="4901184"/>
            <a:ext cx="731520" cy="731520"/>
            <a:chOff x="0" y="0"/>
            <a:chExt cx="97536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75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527280" y="4681728"/>
            <a:ext cx="5120640" cy="512064"/>
            <a:chOff x="0" y="0"/>
            <a:chExt cx="682752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Comorbidity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27280" y="5230368"/>
            <a:ext cx="5120640" cy="548640"/>
            <a:chOff x="0" y="0"/>
            <a:chExt cx="68275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PVD and non-PVD patients detected with equal recall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17303" y="6058919"/>
            <a:ext cx="6426203" cy="1342139"/>
            <a:chOff x="0" y="0"/>
            <a:chExt cx="8568271" cy="17895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681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772539"/>
                  </a:lnTo>
                  <a:cubicBezTo>
                    <a:pt x="8568182" y="1781937"/>
                    <a:pt x="8560562" y="1789430"/>
                    <a:pt x="85512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8551291" y="1755648"/>
                  </a:lnTo>
                  <a:lnTo>
                    <a:pt x="8551291" y="1772539"/>
                  </a:lnTo>
                  <a:lnTo>
                    <a:pt x="8534400" y="177253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600183" y="6351527"/>
            <a:ext cx="756923" cy="756923"/>
            <a:chOff x="0" y="0"/>
            <a:chExt cx="1009231" cy="10092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9269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612880" y="6364224"/>
            <a:ext cx="731520" cy="731520"/>
            <a:chOff x="0" y="0"/>
            <a:chExt cx="97536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753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527280" y="6144768"/>
            <a:ext cx="5120640" cy="512064"/>
            <a:chOff x="0" y="0"/>
            <a:chExt cx="682752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Race/Ethnicity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527280" y="6693408"/>
            <a:ext cx="5120640" cy="548640"/>
            <a:chOff x="0" y="0"/>
            <a:chExt cx="682752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in dataset — must collect for full regulatory compliance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44503" y="7704839"/>
            <a:ext cx="17399003" cy="2146811"/>
            <a:chOff x="0" y="0"/>
            <a:chExt cx="23198671" cy="286241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23164799" cy="2828544"/>
            </a:xfrm>
            <a:custGeom>
              <a:avLst/>
              <a:gdLst/>
              <a:ahLst/>
              <a:cxnLst/>
              <a:rect r="r" b="b" t="t" l="l"/>
              <a:pathLst>
                <a:path h="2828544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2828544"/>
                  </a:lnTo>
                  <a:lnTo>
                    <a:pt x="0" y="28285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198582" cy="2862326"/>
            </a:xfrm>
            <a:custGeom>
              <a:avLst/>
              <a:gdLst/>
              <a:ahLst/>
              <a:cxnLst/>
              <a:rect r="r" b="b" t="t" l="l"/>
              <a:pathLst>
                <a:path h="2862326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2845435"/>
                  </a:lnTo>
                  <a:cubicBezTo>
                    <a:pt x="23198582" y="2854833"/>
                    <a:pt x="23190963" y="2862326"/>
                    <a:pt x="23181690" y="2862326"/>
                  </a:cubicBezTo>
                  <a:lnTo>
                    <a:pt x="16891" y="2862326"/>
                  </a:lnTo>
                  <a:cubicBezTo>
                    <a:pt x="7493" y="2862326"/>
                    <a:pt x="0" y="2854706"/>
                    <a:pt x="0" y="28454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45435"/>
                  </a:lnTo>
                  <a:lnTo>
                    <a:pt x="16891" y="2845435"/>
                  </a:lnTo>
                  <a:lnTo>
                    <a:pt x="16891" y="2828544"/>
                  </a:lnTo>
                  <a:lnTo>
                    <a:pt x="23181690" y="2828544"/>
                  </a:lnTo>
                  <a:lnTo>
                    <a:pt x="23181690" y="2845435"/>
                  </a:lnTo>
                  <a:lnTo>
                    <a:pt x="23164800" y="2845435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68096" y="7863840"/>
            <a:ext cx="16459200" cy="475488"/>
            <a:chOff x="0" y="0"/>
            <a:chExt cx="2194560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6B8F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REGULATORY READINESS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68096" y="8412480"/>
            <a:ext cx="16642080" cy="1207008"/>
            <a:chOff x="0" y="0"/>
            <a:chExt cx="22189440" cy="16093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189439" cy="1609344"/>
            </a:xfrm>
            <a:custGeom>
              <a:avLst/>
              <a:gdLst/>
              <a:ahLst/>
              <a:cxnLst/>
              <a:rect r="r" b="b" t="t" l="l"/>
              <a:pathLst>
                <a:path h="160934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657" r="0" b="-21865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2218944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predictions are individually explainable (LIME + SHAP). Fairness metrics documented. Mitigation strategies proposed (group-specific thresholds, augmentation). </a:t>
              </a:r>
              <a:r>
                <a:rPr lang="en-US" sz="2100" b="true">
                  <a:solidFill>
                    <a:srgbClr val="014F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Designed with FDA SaMD and NHS AI guidance principles in mind.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ROI &amp; CLINICAL IMPACT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Conservative estimates based on published dialysis access literature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17399003" cy="2073659"/>
            <a:chOff x="0" y="0"/>
            <a:chExt cx="23198671" cy="27648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164799" cy="2731008"/>
            </a:xfrm>
            <a:custGeom>
              <a:avLst/>
              <a:gdLst/>
              <a:ahLst/>
              <a:cxnLst/>
              <a:rect r="r" b="b" t="t" l="l"/>
              <a:pathLst>
                <a:path h="2731008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98582" cy="2764790"/>
            </a:xfrm>
            <a:custGeom>
              <a:avLst/>
              <a:gdLst/>
              <a:ahLst/>
              <a:cxnLst/>
              <a:rect r="r" b="b" t="t" l="l"/>
              <a:pathLst>
                <a:path h="2764790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2747899"/>
                  </a:lnTo>
                  <a:cubicBezTo>
                    <a:pt x="23198582" y="2757297"/>
                    <a:pt x="23190963" y="2764790"/>
                    <a:pt x="23181690" y="2764790"/>
                  </a:cubicBezTo>
                  <a:lnTo>
                    <a:pt x="16891" y="2764790"/>
                  </a:lnTo>
                  <a:cubicBezTo>
                    <a:pt x="7493" y="2764790"/>
                    <a:pt x="0" y="2757170"/>
                    <a:pt x="0" y="27478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747899"/>
                  </a:lnTo>
                  <a:lnTo>
                    <a:pt x="16891" y="2747899"/>
                  </a:lnTo>
                  <a:lnTo>
                    <a:pt x="16891" y="2731008"/>
                  </a:lnTo>
                  <a:lnTo>
                    <a:pt x="23181690" y="2731008"/>
                  </a:lnTo>
                  <a:lnTo>
                    <a:pt x="23181690" y="2747899"/>
                  </a:lnTo>
                  <a:lnTo>
                    <a:pt x="23164800" y="2747899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6" y="1755648"/>
            <a:ext cx="16642080" cy="512064"/>
            <a:chOff x="0" y="0"/>
            <a:chExt cx="221894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Scenario: 500-patient dialysis unit  |  155 expected annual failures  |  91% recall 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8096" y="2304288"/>
            <a:ext cx="16642080" cy="1133856"/>
            <a:chOff x="0" y="0"/>
            <a:chExt cx="22189440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990" r="0" b="-2359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1894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catches ~141 failures early  ·  Only ~14 missed  ·  Routine monitoring for all flagged patients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4503" y="3900935"/>
            <a:ext cx="4012187" cy="5511803"/>
            <a:chOff x="0" y="0"/>
            <a:chExt cx="5349583" cy="73490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15712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49494" cy="7348982"/>
            </a:xfrm>
            <a:custGeom>
              <a:avLst/>
              <a:gdLst/>
              <a:ahLst/>
              <a:cxnLst/>
              <a:rect r="r" b="b" t="t" l="l"/>
              <a:pathLst>
                <a:path h="734898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7332091"/>
                  </a:lnTo>
                  <a:cubicBezTo>
                    <a:pt x="5349494" y="7341489"/>
                    <a:pt x="5341874" y="7348982"/>
                    <a:pt x="5332603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5332603" y="7315200"/>
                  </a:lnTo>
                  <a:lnTo>
                    <a:pt x="5332603" y="7332091"/>
                  </a:lnTo>
                  <a:lnTo>
                    <a:pt x="5315712" y="733209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44503" y="3900935"/>
            <a:ext cx="4012187" cy="208283"/>
            <a:chOff x="0" y="0"/>
            <a:chExt cx="5349583" cy="2777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315712" cy="243840"/>
            </a:xfrm>
            <a:custGeom>
              <a:avLst/>
              <a:gdLst/>
              <a:ahLst/>
              <a:cxnLst/>
              <a:rect r="r" b="b" t="t" l="l"/>
              <a:pathLst>
                <a:path h="24384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49494" cy="277624"/>
            </a:xfrm>
            <a:custGeom>
              <a:avLst/>
              <a:gdLst/>
              <a:ahLst/>
              <a:cxnLst/>
              <a:rect r="r" b="b" t="t" l="l"/>
              <a:pathLst>
                <a:path h="27762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60731"/>
                  </a:lnTo>
                  <a:cubicBezTo>
                    <a:pt x="5349494" y="270129"/>
                    <a:pt x="5341874" y="277622"/>
                    <a:pt x="533260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332603" y="243840"/>
                  </a:lnTo>
                  <a:lnTo>
                    <a:pt x="5332603" y="260731"/>
                  </a:lnTo>
                  <a:lnTo>
                    <a:pt x="5315712" y="26073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57200" y="4169664"/>
            <a:ext cx="3986784" cy="950976"/>
            <a:chOff x="0" y="0"/>
            <a:chExt cx="5315712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531571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💰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0080" y="5193792"/>
            <a:ext cx="3621024" cy="585216"/>
            <a:chOff x="0" y="0"/>
            <a:chExt cx="4828032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28032" cy="780288"/>
            </a:xfrm>
            <a:custGeom>
              <a:avLst/>
              <a:gdLst/>
              <a:ahLst/>
              <a:cxnLst/>
              <a:rect r="r" b="b" t="t" l="l"/>
              <a:pathLst>
                <a:path h="780288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3" r="0" b="-705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2803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Avoidance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5815584"/>
            <a:ext cx="3621024" cy="1024128"/>
            <a:chOff x="0" y="0"/>
            <a:chExt cx="4828032" cy="13655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28032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3" r="0" b="-1889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4828032" cy="1470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$1.8M+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" y="6912864"/>
            <a:ext cx="3621024" cy="2194560"/>
            <a:chOff x="0" y="0"/>
            <a:chExt cx="4828032" cy="292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28032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28032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141 emergency repairs → planned procedures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Savings: ~$12,700 per converted case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33623" y="3900935"/>
            <a:ext cx="4012187" cy="5511803"/>
            <a:chOff x="0" y="0"/>
            <a:chExt cx="5349583" cy="7349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15712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9494" cy="7348982"/>
            </a:xfrm>
            <a:custGeom>
              <a:avLst/>
              <a:gdLst/>
              <a:ahLst/>
              <a:cxnLst/>
              <a:rect r="r" b="b" t="t" l="l"/>
              <a:pathLst>
                <a:path h="734898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7332091"/>
                  </a:lnTo>
                  <a:cubicBezTo>
                    <a:pt x="5349494" y="7341489"/>
                    <a:pt x="5341874" y="7348982"/>
                    <a:pt x="5332603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5332603" y="7315200"/>
                  </a:lnTo>
                  <a:lnTo>
                    <a:pt x="5332603" y="7332091"/>
                  </a:lnTo>
                  <a:lnTo>
                    <a:pt x="5315712" y="733209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833623" y="3900935"/>
            <a:ext cx="4012187" cy="208283"/>
            <a:chOff x="0" y="0"/>
            <a:chExt cx="5349583" cy="2777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315712" cy="243840"/>
            </a:xfrm>
            <a:custGeom>
              <a:avLst/>
              <a:gdLst/>
              <a:ahLst/>
              <a:cxnLst/>
              <a:rect r="r" b="b" t="t" l="l"/>
              <a:pathLst>
                <a:path h="24384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49494" cy="277624"/>
            </a:xfrm>
            <a:custGeom>
              <a:avLst/>
              <a:gdLst/>
              <a:ahLst/>
              <a:cxnLst/>
              <a:rect r="r" b="b" t="t" l="l"/>
              <a:pathLst>
                <a:path h="27762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60731"/>
                  </a:lnTo>
                  <a:cubicBezTo>
                    <a:pt x="5349494" y="270129"/>
                    <a:pt x="5341874" y="277622"/>
                    <a:pt x="533260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332603" y="243840"/>
                  </a:lnTo>
                  <a:lnTo>
                    <a:pt x="5332603" y="260731"/>
                  </a:lnTo>
                  <a:lnTo>
                    <a:pt x="5315712" y="26073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846320" y="4169664"/>
            <a:ext cx="3986784" cy="950976"/>
            <a:chOff x="0" y="0"/>
            <a:chExt cx="5315712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531571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🏥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29200" y="5193792"/>
            <a:ext cx="3621024" cy="585216"/>
            <a:chOff x="0" y="0"/>
            <a:chExt cx="4828032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28032" cy="780288"/>
            </a:xfrm>
            <a:custGeom>
              <a:avLst/>
              <a:gdLst/>
              <a:ahLst/>
              <a:cxnLst/>
              <a:rect r="r" b="b" t="t" l="l"/>
              <a:pathLst>
                <a:path h="780288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3" r="0" b="-705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82803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Hospitalisations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29200" y="5815584"/>
            <a:ext cx="3621024" cy="1024128"/>
            <a:chOff x="0" y="0"/>
            <a:chExt cx="4828032" cy="13655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28032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3" r="0" b="-1889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4828032" cy="1470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−67%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29200" y="6912864"/>
            <a:ext cx="3621024" cy="2194560"/>
            <a:chOff x="0" y="0"/>
            <a:chExt cx="4828032" cy="2926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28032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828032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Emergency admissions for access failure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3.2 bed-days per emergency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222743" y="3900935"/>
            <a:ext cx="4012187" cy="5511803"/>
            <a:chOff x="0" y="0"/>
            <a:chExt cx="5349583" cy="73490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15712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49494" cy="7348982"/>
            </a:xfrm>
            <a:custGeom>
              <a:avLst/>
              <a:gdLst/>
              <a:ahLst/>
              <a:cxnLst/>
              <a:rect r="r" b="b" t="t" l="l"/>
              <a:pathLst>
                <a:path h="734898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7332091"/>
                  </a:lnTo>
                  <a:cubicBezTo>
                    <a:pt x="5349494" y="7341489"/>
                    <a:pt x="5341874" y="7348982"/>
                    <a:pt x="5332603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5332603" y="7315200"/>
                  </a:lnTo>
                  <a:lnTo>
                    <a:pt x="5332603" y="7332091"/>
                  </a:lnTo>
                  <a:lnTo>
                    <a:pt x="5315712" y="733209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222743" y="3900935"/>
            <a:ext cx="4012187" cy="208283"/>
            <a:chOff x="0" y="0"/>
            <a:chExt cx="5349583" cy="2777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15712" cy="243840"/>
            </a:xfrm>
            <a:custGeom>
              <a:avLst/>
              <a:gdLst/>
              <a:ahLst/>
              <a:cxnLst/>
              <a:rect r="r" b="b" t="t" l="l"/>
              <a:pathLst>
                <a:path h="24384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49494" cy="277624"/>
            </a:xfrm>
            <a:custGeom>
              <a:avLst/>
              <a:gdLst/>
              <a:ahLst/>
              <a:cxnLst/>
              <a:rect r="r" b="b" t="t" l="l"/>
              <a:pathLst>
                <a:path h="27762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60731"/>
                  </a:lnTo>
                  <a:cubicBezTo>
                    <a:pt x="5349494" y="270129"/>
                    <a:pt x="5341874" y="277622"/>
                    <a:pt x="533260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332603" y="243840"/>
                  </a:lnTo>
                  <a:lnTo>
                    <a:pt x="5332603" y="260731"/>
                  </a:lnTo>
                  <a:lnTo>
                    <a:pt x="5315712" y="26073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35440" y="4169664"/>
            <a:ext cx="3986784" cy="950976"/>
            <a:chOff x="0" y="0"/>
            <a:chExt cx="5315712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04775"/>
              <a:ext cx="531571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❤️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18320" y="5193792"/>
            <a:ext cx="3621024" cy="585216"/>
            <a:chOff x="0" y="0"/>
            <a:chExt cx="4828032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28032" cy="780288"/>
            </a:xfrm>
            <a:custGeom>
              <a:avLst/>
              <a:gdLst/>
              <a:ahLst/>
              <a:cxnLst/>
              <a:rect r="r" b="b" t="t" l="l"/>
              <a:pathLst>
                <a:path h="780288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3" r="0" b="-7056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2803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Outcomes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18320" y="5815584"/>
            <a:ext cx="3621024" cy="1024128"/>
            <a:chOff x="0" y="0"/>
            <a:chExt cx="4828032" cy="13655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28032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3" r="0" b="-1889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04775"/>
              <a:ext cx="4828032" cy="1470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+18mo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18320" y="6912864"/>
            <a:ext cx="3621024" cy="2194560"/>
            <a:chOff x="0" y="0"/>
            <a:chExt cx="4828032" cy="2926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28032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828032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access survival extension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early intervention protocol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611863" y="3900935"/>
            <a:ext cx="4012187" cy="5511803"/>
            <a:chOff x="0" y="0"/>
            <a:chExt cx="5349583" cy="73490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315712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49494" cy="7348982"/>
            </a:xfrm>
            <a:custGeom>
              <a:avLst/>
              <a:gdLst/>
              <a:ahLst/>
              <a:cxnLst/>
              <a:rect r="r" b="b" t="t" l="l"/>
              <a:pathLst>
                <a:path h="734898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7332091"/>
                  </a:lnTo>
                  <a:cubicBezTo>
                    <a:pt x="5349494" y="7341489"/>
                    <a:pt x="5341874" y="7348982"/>
                    <a:pt x="5332603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5332603" y="7315200"/>
                  </a:lnTo>
                  <a:lnTo>
                    <a:pt x="5332603" y="7332091"/>
                  </a:lnTo>
                  <a:lnTo>
                    <a:pt x="5315712" y="733209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611863" y="3900935"/>
            <a:ext cx="4012187" cy="208283"/>
            <a:chOff x="0" y="0"/>
            <a:chExt cx="5349583" cy="2777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315712" cy="243840"/>
            </a:xfrm>
            <a:custGeom>
              <a:avLst/>
              <a:gdLst/>
              <a:ahLst/>
              <a:cxnLst/>
              <a:rect r="r" b="b" t="t" l="l"/>
              <a:pathLst>
                <a:path h="24384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49494" cy="277624"/>
            </a:xfrm>
            <a:custGeom>
              <a:avLst/>
              <a:gdLst/>
              <a:ahLst/>
              <a:cxnLst/>
              <a:rect r="r" b="b" t="t" l="l"/>
              <a:pathLst>
                <a:path h="27762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60731"/>
                  </a:lnTo>
                  <a:cubicBezTo>
                    <a:pt x="5349494" y="270129"/>
                    <a:pt x="5341874" y="277622"/>
                    <a:pt x="533260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332603" y="243840"/>
                  </a:lnTo>
                  <a:lnTo>
                    <a:pt x="5332603" y="260731"/>
                  </a:lnTo>
                  <a:lnTo>
                    <a:pt x="5315712" y="26073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624560" y="4169664"/>
            <a:ext cx="3986784" cy="950976"/>
            <a:chOff x="0" y="0"/>
            <a:chExt cx="5315712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04775"/>
              <a:ext cx="531571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807440" y="5193792"/>
            <a:ext cx="3621024" cy="585216"/>
            <a:chOff x="0" y="0"/>
            <a:chExt cx="4828032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28032" cy="780288"/>
            </a:xfrm>
            <a:custGeom>
              <a:avLst/>
              <a:gdLst/>
              <a:ahLst/>
              <a:cxnLst/>
              <a:rect r="r" b="b" t="t" l="l"/>
              <a:pathLst>
                <a:path h="780288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3" r="0" b="-7056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82803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Clinician Efficiency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807440" y="5815584"/>
            <a:ext cx="3621024" cy="1024128"/>
            <a:chOff x="0" y="0"/>
            <a:chExt cx="4828032" cy="13655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28032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3" r="0" b="-1889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04775"/>
              <a:ext cx="4828032" cy="1470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2.5hr/wk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807440" y="6912864"/>
            <a:ext cx="3621024" cy="2194560"/>
            <a:chOff x="0" y="0"/>
            <a:chExt cx="4828032" cy="29260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28032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828032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Saved per nephrologist by prioritising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flagged patients for review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Phased rollout — from pilot to enterprise deployment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1633223"/>
            <a:ext cx="5511803" cy="8255003"/>
            <a:chOff x="0" y="0"/>
            <a:chExt cx="7349071" cy="11006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989691"/>
                  </a:lnTo>
                  <a:cubicBezTo>
                    <a:pt x="7348982" y="10999089"/>
                    <a:pt x="7341362" y="11006582"/>
                    <a:pt x="733209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7332091" y="10972800"/>
                  </a:lnTo>
                  <a:lnTo>
                    <a:pt x="7332091" y="10989691"/>
                  </a:lnTo>
                  <a:lnTo>
                    <a:pt x="7315200" y="10989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1633223"/>
            <a:ext cx="5511803" cy="1342139"/>
            <a:chOff x="0" y="0"/>
            <a:chExt cx="7349071" cy="1789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719072"/>
            <a:ext cx="2560320" cy="512064"/>
            <a:chOff x="0" y="0"/>
            <a:chExt cx="34137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01568" y="1719072"/>
            <a:ext cx="2377440" cy="512064"/>
            <a:chOff x="0" y="0"/>
            <a:chExt cx="31699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1699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Q1–Q2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2231136"/>
            <a:ext cx="5047488" cy="512064"/>
            <a:chOff x="0" y="0"/>
            <a:chExt cx="6729984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29984" cy="682752"/>
            </a:xfrm>
            <a:custGeom>
              <a:avLst/>
              <a:gdLst/>
              <a:ahLst/>
              <a:cxnLst/>
              <a:rect r="r" b="b" t="t" l="l"/>
              <a:pathLst>
                <a:path h="68275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72998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Pilot (1 Unit)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1975" y="3315719"/>
            <a:ext cx="427739" cy="427739"/>
            <a:chOff x="0" y="0"/>
            <a:chExt cx="570319" cy="5703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53312" y="3182112"/>
            <a:ext cx="4425696" cy="1133856"/>
            <a:chOff x="0" y="0"/>
            <a:chExt cx="5900928" cy="15118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 model into EMR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pipeline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91975" y="4632455"/>
            <a:ext cx="427739" cy="427739"/>
            <a:chOff x="0" y="0"/>
            <a:chExt cx="570319" cy="5703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3312" y="4498848"/>
            <a:ext cx="4425696" cy="1133856"/>
            <a:chOff x="0" y="0"/>
            <a:chExt cx="5900928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50-patient pilot cohort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91975" y="5949191"/>
            <a:ext cx="427739" cy="427739"/>
            <a:chOff x="0" y="0"/>
            <a:chExt cx="570319" cy="5703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53312" y="5815584"/>
            <a:ext cx="4425696" cy="1133856"/>
            <a:chOff x="0" y="0"/>
            <a:chExt cx="5900928" cy="15118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Clinician training &amp;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feedback loops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91975" y="7265927"/>
            <a:ext cx="427739" cy="427739"/>
            <a:chOff x="0" y="0"/>
            <a:chExt cx="570319" cy="5703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53312" y="7132320"/>
            <a:ext cx="4425696" cy="1133856"/>
            <a:chOff x="0" y="0"/>
            <a:chExt cx="5900928" cy="151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IRB/Ethics approval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388103" y="1633223"/>
            <a:ext cx="5511803" cy="8255003"/>
            <a:chOff x="0" y="0"/>
            <a:chExt cx="7349071" cy="110066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315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8982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989691"/>
                  </a:lnTo>
                  <a:cubicBezTo>
                    <a:pt x="7348982" y="10999089"/>
                    <a:pt x="7341362" y="11006582"/>
                    <a:pt x="733209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7332091" y="10972800"/>
                  </a:lnTo>
                  <a:lnTo>
                    <a:pt x="7332091" y="10989691"/>
                  </a:lnTo>
                  <a:lnTo>
                    <a:pt x="7315200" y="10989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388103" y="1633223"/>
            <a:ext cx="5511803" cy="1342139"/>
            <a:chOff x="0" y="0"/>
            <a:chExt cx="7349071" cy="17895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3152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489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620256" y="1719072"/>
            <a:ext cx="2560320" cy="512064"/>
            <a:chOff x="0" y="0"/>
            <a:chExt cx="34137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90304" y="1719072"/>
            <a:ext cx="2377440" cy="512064"/>
            <a:chOff x="0" y="0"/>
            <a:chExt cx="316992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31699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Q3–Q4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620256" y="2231136"/>
            <a:ext cx="5047488" cy="512064"/>
            <a:chOff x="0" y="0"/>
            <a:chExt cx="6729984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29984" cy="682752"/>
            </a:xfrm>
            <a:custGeom>
              <a:avLst/>
              <a:gdLst/>
              <a:ahLst/>
              <a:cxnLst/>
              <a:rect r="r" b="b" t="t" l="l"/>
              <a:pathLst>
                <a:path h="68275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72998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80711" y="3315719"/>
            <a:ext cx="427739" cy="427739"/>
            <a:chOff x="0" y="0"/>
            <a:chExt cx="570319" cy="57031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242048" y="3182112"/>
            <a:ext cx="4425696" cy="1133856"/>
            <a:chOff x="0" y="0"/>
            <a:chExt cx="5900928" cy="15118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Real-world data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recollection &amp; retraining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680711" y="4632455"/>
            <a:ext cx="427739" cy="427739"/>
            <a:chOff x="0" y="0"/>
            <a:chExt cx="570319" cy="5703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242048" y="4498848"/>
            <a:ext cx="4425696" cy="1133856"/>
            <a:chOff x="0" y="0"/>
            <a:chExt cx="5900928" cy="151180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Race/ethnicity data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addition for full fairness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680711" y="5949191"/>
            <a:ext cx="427739" cy="427739"/>
            <a:chOff x="0" y="0"/>
            <a:chExt cx="570319" cy="57031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242048" y="5815584"/>
            <a:ext cx="4425696" cy="1133856"/>
            <a:chOff x="0" y="0"/>
            <a:chExt cx="5900928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 &amp; F2 validation vs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synthetic baseline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680711" y="7265927"/>
            <a:ext cx="427739" cy="427739"/>
            <a:chOff x="0" y="0"/>
            <a:chExt cx="570319" cy="57031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242048" y="7132320"/>
            <a:ext cx="4425696" cy="1133856"/>
            <a:chOff x="0" y="0"/>
            <a:chExt cx="5900928" cy="151180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Regulatory pre-submission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(FDA SaMD pathway)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276839" y="1633223"/>
            <a:ext cx="5511803" cy="8255003"/>
            <a:chOff x="0" y="0"/>
            <a:chExt cx="7349071" cy="1100667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315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48982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989691"/>
                  </a:lnTo>
                  <a:cubicBezTo>
                    <a:pt x="7348982" y="10999089"/>
                    <a:pt x="7341362" y="11006582"/>
                    <a:pt x="733209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7332091" y="10972800"/>
                  </a:lnTo>
                  <a:lnTo>
                    <a:pt x="7332091" y="10989691"/>
                  </a:lnTo>
                  <a:lnTo>
                    <a:pt x="7315200" y="10989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276839" y="1633223"/>
            <a:ext cx="5511803" cy="1342139"/>
            <a:chOff x="0" y="0"/>
            <a:chExt cx="7349071" cy="178951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3152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3489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508992" y="1719072"/>
            <a:ext cx="2560320" cy="512064"/>
            <a:chOff x="0" y="0"/>
            <a:chExt cx="341376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179040" y="1719072"/>
            <a:ext cx="2377440" cy="512064"/>
            <a:chOff x="0" y="0"/>
            <a:chExt cx="316992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31699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 2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508992" y="2231136"/>
            <a:ext cx="5047488" cy="512064"/>
            <a:chOff x="0" y="0"/>
            <a:chExt cx="6729984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729984" cy="682752"/>
            </a:xfrm>
            <a:custGeom>
              <a:avLst/>
              <a:gdLst/>
              <a:ahLst/>
              <a:cxnLst/>
              <a:rect r="r" b="b" t="t" l="l"/>
              <a:pathLst>
                <a:path h="68275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72998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Scale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569447" y="3315719"/>
            <a:ext cx="427739" cy="427739"/>
            <a:chOff x="0" y="0"/>
            <a:chExt cx="570319" cy="57031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130784" y="3182112"/>
            <a:ext cx="4425696" cy="1133856"/>
            <a:chOff x="0" y="0"/>
            <a:chExt cx="5900928" cy="151180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Multi-site rollout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(5–10 units)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569447" y="4632455"/>
            <a:ext cx="427739" cy="427739"/>
            <a:chOff x="0" y="0"/>
            <a:chExt cx="570319" cy="57031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130784" y="4498848"/>
            <a:ext cx="4425696" cy="1133856"/>
            <a:chOff x="0" y="0"/>
            <a:chExt cx="5900928" cy="151180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integration at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app/api/main.py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569447" y="5949191"/>
            <a:ext cx="427739" cy="427739"/>
            <a:chOff x="0" y="0"/>
            <a:chExt cx="570319" cy="57031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130784" y="5815584"/>
            <a:ext cx="4425696" cy="1133856"/>
            <a:chOff x="0" y="0"/>
            <a:chExt cx="5900928" cy="151180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Chatbot assistant for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clinician queries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569447" y="7265927"/>
            <a:ext cx="427739" cy="427739"/>
            <a:chOff x="0" y="0"/>
            <a:chExt cx="570319" cy="57031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3130784" y="7132320"/>
            <a:ext cx="4425696" cy="1133856"/>
            <a:chOff x="0" y="0"/>
            <a:chExt cx="5900928" cy="151180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90092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" r="0" b="-2605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900928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model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retraining pipeline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14F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4F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E0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RISKS &amp; LIMITATIONS — WHAT WE KNOW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Transparent risk disclosure — every limitation has a mitigation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1669799"/>
            <a:ext cx="8437883" cy="3902459"/>
            <a:chOff x="0" y="0"/>
            <a:chExt cx="11250511" cy="52032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86299"/>
                  </a:lnTo>
                  <a:cubicBezTo>
                    <a:pt x="11250422" y="5195697"/>
                    <a:pt x="11242802" y="5203190"/>
                    <a:pt x="11233531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33531" y="5169408"/>
                  </a:lnTo>
                  <a:lnTo>
                    <a:pt x="11233531" y="5186299"/>
                  </a:lnTo>
                  <a:lnTo>
                    <a:pt x="11216640" y="518629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80711" y="1889255"/>
            <a:ext cx="1854203" cy="537467"/>
            <a:chOff x="0" y="0"/>
            <a:chExt cx="2472271" cy="7166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72182" cy="716536"/>
            </a:xfrm>
            <a:custGeom>
              <a:avLst/>
              <a:gdLst/>
              <a:ahLst/>
              <a:cxnLst/>
              <a:rect r="r" b="b" t="t" l="l"/>
              <a:pathLst>
                <a:path h="716536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699643"/>
                  </a:lnTo>
                  <a:cubicBezTo>
                    <a:pt x="2472182" y="709041"/>
                    <a:pt x="2464562" y="716534"/>
                    <a:pt x="2455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455291" y="682752"/>
                  </a:lnTo>
                  <a:lnTo>
                    <a:pt x="2455291" y="699643"/>
                  </a:lnTo>
                  <a:lnTo>
                    <a:pt x="2438400" y="699643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93408" y="1901952"/>
            <a:ext cx="1828800" cy="512064"/>
            <a:chOff x="0" y="0"/>
            <a:chExt cx="24384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4384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1828800"/>
            <a:ext cx="950976" cy="950976"/>
            <a:chOff x="0" y="0"/>
            <a:chExt cx="1267968" cy="12679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26796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🔬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28800" y="1865376"/>
            <a:ext cx="4754880" cy="585216"/>
            <a:chOff x="0" y="0"/>
            <a:chExt cx="633984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3398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Synthetic Training 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6384" y="2670048"/>
            <a:ext cx="7863840" cy="731520"/>
            <a:chOff x="0" y="0"/>
            <a:chExt cx="1048512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485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trained on generated data, not EHR records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0031" y="3504943"/>
            <a:ext cx="7876537" cy="12697"/>
            <a:chOff x="0" y="0"/>
            <a:chExt cx="10502049" cy="169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0"/>
              <a:ext cx="10485119" cy="16891"/>
            </a:xfrm>
            <a:custGeom>
              <a:avLst/>
              <a:gdLst/>
              <a:ahLst/>
              <a:cxnLst/>
              <a:rect r="r" b="b" t="t" l="l"/>
              <a:pathLst>
                <a:path h="16891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86384" y="3694176"/>
            <a:ext cx="1828800" cy="438912"/>
            <a:chOff x="0" y="0"/>
            <a:chExt cx="243840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596896" y="3694176"/>
            <a:ext cx="6071616" cy="1609344"/>
            <a:chOff x="0" y="0"/>
            <a:chExt cx="8095488" cy="2145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954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8095488">
                  <a:moveTo>
                    <a:pt x="0" y="0"/>
                  </a:moveTo>
                  <a:lnTo>
                    <a:pt x="8095488" y="0"/>
                  </a:lnTo>
                  <a:lnTo>
                    <a:pt x="8095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095488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1 pilot retrains on real patient data before clinical use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9367" y="5839463"/>
            <a:ext cx="8437883" cy="3902459"/>
            <a:chOff x="0" y="0"/>
            <a:chExt cx="11250511" cy="52032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121664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50422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86299"/>
                  </a:lnTo>
                  <a:cubicBezTo>
                    <a:pt x="11250422" y="5195697"/>
                    <a:pt x="11242802" y="5203190"/>
                    <a:pt x="11233531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33531" y="5169408"/>
                  </a:lnTo>
                  <a:lnTo>
                    <a:pt x="11233531" y="5186299"/>
                  </a:lnTo>
                  <a:lnTo>
                    <a:pt x="11216640" y="518629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80711" y="6058919"/>
            <a:ext cx="1854203" cy="537467"/>
            <a:chOff x="0" y="0"/>
            <a:chExt cx="2472271" cy="7166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72182" cy="716536"/>
            </a:xfrm>
            <a:custGeom>
              <a:avLst/>
              <a:gdLst/>
              <a:ahLst/>
              <a:cxnLst/>
              <a:rect r="r" b="b" t="t" l="l"/>
              <a:pathLst>
                <a:path h="716536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699643"/>
                  </a:lnTo>
                  <a:cubicBezTo>
                    <a:pt x="2472182" y="709041"/>
                    <a:pt x="2464562" y="716534"/>
                    <a:pt x="2455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455291" y="682752"/>
                  </a:lnTo>
                  <a:lnTo>
                    <a:pt x="2455291" y="699643"/>
                  </a:lnTo>
                  <a:lnTo>
                    <a:pt x="2438400" y="699643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93408" y="6071616"/>
            <a:ext cx="1828800" cy="512064"/>
            <a:chOff x="0" y="0"/>
            <a:chExt cx="243840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24384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31520" y="5998464"/>
            <a:ext cx="950976" cy="950976"/>
            <a:chOff x="0" y="0"/>
            <a:chExt cx="1267968" cy="12679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126796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⚖️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28800" y="6035040"/>
            <a:ext cx="4754880" cy="585216"/>
            <a:chOff x="0" y="0"/>
            <a:chExt cx="6339840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3398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Demographics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86384" y="6839712"/>
            <a:ext cx="7863840" cy="731520"/>
            <a:chOff x="0" y="0"/>
            <a:chExt cx="1048512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485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Race/ethnicity not in dataset — fairness audit incomplete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80031" y="7674607"/>
            <a:ext cx="7876537" cy="12697"/>
            <a:chOff x="0" y="0"/>
            <a:chExt cx="10502049" cy="1692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8509" y="0"/>
              <a:ext cx="10485119" cy="16891"/>
            </a:xfrm>
            <a:custGeom>
              <a:avLst/>
              <a:gdLst/>
              <a:ahLst/>
              <a:cxnLst/>
              <a:rect r="r" b="b" t="t" l="l"/>
              <a:pathLst>
                <a:path h="16891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86384" y="7863840"/>
            <a:ext cx="1828800" cy="438912"/>
            <a:chOff x="0" y="0"/>
            <a:chExt cx="2438400" cy="5852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 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596896" y="7863840"/>
            <a:ext cx="6071616" cy="1609344"/>
            <a:chOff x="0" y="0"/>
            <a:chExt cx="8095488" cy="2145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954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8095488">
                  <a:moveTo>
                    <a:pt x="0" y="0"/>
                  </a:moveTo>
                  <a:lnTo>
                    <a:pt x="8095488" y="0"/>
                  </a:lnTo>
                  <a:lnTo>
                    <a:pt x="8095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95488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 demographics in pilot; use oversampling for underrepresented groups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87335" y="1669799"/>
            <a:ext cx="8437883" cy="3902459"/>
            <a:chOff x="0" y="0"/>
            <a:chExt cx="11250511" cy="520327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121664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50422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86299"/>
                  </a:lnTo>
                  <a:cubicBezTo>
                    <a:pt x="11250422" y="5195697"/>
                    <a:pt x="11242802" y="5203190"/>
                    <a:pt x="11233531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33531" y="5169408"/>
                  </a:lnTo>
                  <a:lnTo>
                    <a:pt x="11233531" y="5186299"/>
                  </a:lnTo>
                  <a:lnTo>
                    <a:pt x="11216640" y="518629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5568679" y="1889255"/>
            <a:ext cx="1854203" cy="537467"/>
            <a:chOff x="0" y="0"/>
            <a:chExt cx="2472271" cy="71662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7A4A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72182" cy="716536"/>
            </a:xfrm>
            <a:custGeom>
              <a:avLst/>
              <a:gdLst/>
              <a:ahLst/>
              <a:cxnLst/>
              <a:rect r="r" b="b" t="t" l="l"/>
              <a:pathLst>
                <a:path h="716536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699643"/>
                  </a:lnTo>
                  <a:cubicBezTo>
                    <a:pt x="2472182" y="709041"/>
                    <a:pt x="2464562" y="716534"/>
                    <a:pt x="2455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455291" y="682752"/>
                  </a:lnTo>
                  <a:lnTo>
                    <a:pt x="2455291" y="699643"/>
                  </a:lnTo>
                  <a:lnTo>
                    <a:pt x="2438400" y="699643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5581376" y="1901952"/>
            <a:ext cx="1828800" cy="512064"/>
            <a:chOff x="0" y="0"/>
            <a:chExt cx="243840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24384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19488" y="1828800"/>
            <a:ext cx="950976" cy="950976"/>
            <a:chOff x="0" y="0"/>
            <a:chExt cx="1267968" cy="12679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126796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716768" y="1865376"/>
            <a:ext cx="4754880" cy="585216"/>
            <a:chOff x="0" y="0"/>
            <a:chExt cx="6339840" cy="7802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3398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 Precision (39%)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74352" y="2670048"/>
            <a:ext cx="7863840" cy="731520"/>
            <a:chOff x="0" y="0"/>
            <a:chExt cx="10485120" cy="975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485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in 2.5 alerts is a false alarm at current threshold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67999" y="3504943"/>
            <a:ext cx="7876537" cy="12697"/>
            <a:chOff x="0" y="0"/>
            <a:chExt cx="10502049" cy="1692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0"/>
              <a:ext cx="10485119" cy="16891"/>
            </a:xfrm>
            <a:custGeom>
              <a:avLst/>
              <a:gdLst/>
              <a:ahLst/>
              <a:cxnLst/>
              <a:rect r="r" b="b" t="t" l="l"/>
              <a:pathLst>
                <a:path h="16891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74352" y="3694176"/>
            <a:ext cx="1828800" cy="438912"/>
            <a:chOff x="0" y="0"/>
            <a:chExt cx="2438400" cy="5852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 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484864" y="3694176"/>
            <a:ext cx="6071616" cy="1609344"/>
            <a:chOff x="0" y="0"/>
            <a:chExt cx="8095488" cy="21457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0954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8095488">
                  <a:moveTo>
                    <a:pt x="0" y="0"/>
                  </a:moveTo>
                  <a:lnTo>
                    <a:pt x="8095488" y="0"/>
                  </a:lnTo>
                  <a:lnTo>
                    <a:pt x="8095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095488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Adjustable threshold per clinical context; higher precision mode available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87335" y="5839463"/>
            <a:ext cx="8437883" cy="3902459"/>
            <a:chOff x="0" y="0"/>
            <a:chExt cx="11250511" cy="520327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121664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250422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86299"/>
                  </a:lnTo>
                  <a:cubicBezTo>
                    <a:pt x="11250422" y="5195697"/>
                    <a:pt x="11242802" y="5203190"/>
                    <a:pt x="11233531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33531" y="5169408"/>
                  </a:lnTo>
                  <a:lnTo>
                    <a:pt x="11233531" y="5186299"/>
                  </a:lnTo>
                  <a:lnTo>
                    <a:pt x="11216640" y="518629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5568679" y="6058919"/>
            <a:ext cx="1854203" cy="537467"/>
            <a:chOff x="0" y="0"/>
            <a:chExt cx="2472271" cy="71662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72182" cy="716536"/>
            </a:xfrm>
            <a:custGeom>
              <a:avLst/>
              <a:gdLst/>
              <a:ahLst/>
              <a:cxnLst/>
              <a:rect r="r" b="b" t="t" l="l"/>
              <a:pathLst>
                <a:path h="716536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699643"/>
                  </a:lnTo>
                  <a:cubicBezTo>
                    <a:pt x="2472182" y="709041"/>
                    <a:pt x="2464562" y="716534"/>
                    <a:pt x="24552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455291" y="682752"/>
                  </a:lnTo>
                  <a:lnTo>
                    <a:pt x="2455291" y="699643"/>
                  </a:lnTo>
                  <a:lnTo>
                    <a:pt x="2438400" y="699643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5581376" y="6071616"/>
            <a:ext cx="1828800" cy="512064"/>
            <a:chOff x="0" y="0"/>
            <a:chExt cx="243840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24384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19488" y="5998464"/>
            <a:ext cx="950976" cy="950976"/>
            <a:chOff x="0" y="0"/>
            <a:chExt cx="1267968" cy="126796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76200"/>
              <a:ext cx="126796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🏥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716768" y="6035040"/>
            <a:ext cx="4754880" cy="585216"/>
            <a:chOff x="0" y="0"/>
            <a:chExt cx="6339840" cy="78028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63398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Single-Site Validation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674352" y="6839712"/>
            <a:ext cx="7863840" cy="731520"/>
            <a:chOff x="0" y="0"/>
            <a:chExt cx="10485120" cy="9753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485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may vary across dialysis centres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667999" y="7674607"/>
            <a:ext cx="7876537" cy="12697"/>
            <a:chOff x="0" y="0"/>
            <a:chExt cx="10502049" cy="1692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0"/>
              <a:ext cx="10485119" cy="16891"/>
            </a:xfrm>
            <a:custGeom>
              <a:avLst/>
              <a:gdLst/>
              <a:ahLst/>
              <a:cxnLst/>
              <a:rect r="r" b="b" t="t" l="l"/>
              <a:pathLst>
                <a:path h="16891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674352" y="7863840"/>
            <a:ext cx="1828800" cy="438912"/>
            <a:chOff x="0" y="0"/>
            <a:chExt cx="2438400" cy="58521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 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484864" y="7863840"/>
            <a:ext cx="6071616" cy="1609344"/>
            <a:chOff x="0" y="0"/>
            <a:chExt cx="8095488" cy="214579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0954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8095488">
                  <a:moveTo>
                    <a:pt x="0" y="0"/>
                  </a:moveTo>
                  <a:lnTo>
                    <a:pt x="8095488" y="0"/>
                  </a:lnTo>
                  <a:lnTo>
                    <a:pt x="8095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8095488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Multi-site validation in Phase 2; centre-specific calibration layers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18011"/>
            <a:chOff x="0" y="0"/>
            <a:chExt cx="24417871" cy="424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423928"/>
            </a:xfrm>
            <a:custGeom>
              <a:avLst/>
              <a:gdLst/>
              <a:ahLst/>
              <a:cxnLst/>
              <a:rect r="r" b="b" t="t" l="l"/>
              <a:pathLst>
                <a:path h="42392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07035"/>
                  </a:lnTo>
                  <a:cubicBezTo>
                    <a:pt x="24417782" y="416433"/>
                    <a:pt x="24410163" y="423926"/>
                    <a:pt x="24400890" y="423926"/>
                  </a:cubicBezTo>
                  <a:lnTo>
                    <a:pt x="16891" y="423926"/>
                  </a:lnTo>
                  <a:cubicBezTo>
                    <a:pt x="7620" y="424053"/>
                    <a:pt x="0" y="416433"/>
                    <a:pt x="0" y="4070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7035"/>
                  </a:lnTo>
                  <a:lnTo>
                    <a:pt x="16891" y="407035"/>
                  </a:lnTo>
                  <a:lnTo>
                    <a:pt x="16891" y="390144"/>
                  </a:lnTo>
                  <a:lnTo>
                    <a:pt x="24400890" y="390144"/>
                  </a:lnTo>
                  <a:lnTo>
                    <a:pt x="24400890" y="407035"/>
                  </a:lnTo>
                  <a:lnTo>
                    <a:pt x="24384000" y="4070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459200" cy="658368"/>
            <a:chOff x="0" y="0"/>
            <a:chExt cx="21945600" cy="8778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000">
                  <a:solidFill>
                    <a:srgbClr val="E07B3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ASK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645920"/>
            <a:ext cx="16459200" cy="2560320"/>
            <a:chOff x="0" y="0"/>
            <a:chExt cx="21945600" cy="3413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38125"/>
              <a:ext cx="21945600" cy="365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32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 decisions</a:t>
              </a:r>
            </a:p>
            <a:p>
              <a:pPr algn="l">
                <a:lnSpc>
                  <a:spcPts val="10032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that protect your patients.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5350" y="4406646"/>
            <a:ext cx="16497300" cy="38100"/>
            <a:chOff x="0" y="0"/>
            <a:chExt cx="2199640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0"/>
              <a:ext cx="21945600" cy="50800"/>
            </a:xfrm>
            <a:custGeom>
              <a:avLst/>
              <a:gdLst/>
              <a:ahLst/>
              <a:cxnLst/>
              <a:rect r="r" b="b" t="t" l="l"/>
              <a:pathLst>
                <a:path h="50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5399" y="4778759"/>
            <a:ext cx="5292347" cy="4451099"/>
            <a:chOff x="0" y="0"/>
            <a:chExt cx="7056463" cy="593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7022592" cy="5900928"/>
            </a:xfrm>
            <a:custGeom>
              <a:avLst/>
              <a:gdLst/>
              <a:ahLst/>
              <a:cxnLst/>
              <a:rect r="r" b="b" t="t" l="l"/>
              <a:pathLst>
                <a:path h="59009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5900928"/>
                  </a:lnTo>
                  <a:lnTo>
                    <a:pt x="0" y="590092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56374" cy="5934710"/>
            </a:xfrm>
            <a:custGeom>
              <a:avLst/>
              <a:gdLst/>
              <a:ahLst/>
              <a:cxnLst/>
              <a:rect r="r" b="b" t="t" l="l"/>
              <a:pathLst>
                <a:path h="5934710" w="7056374">
                  <a:moveTo>
                    <a:pt x="16891" y="0"/>
                  </a:moveTo>
                  <a:lnTo>
                    <a:pt x="7039483" y="0"/>
                  </a:lnTo>
                  <a:cubicBezTo>
                    <a:pt x="7048881" y="0"/>
                    <a:pt x="7056374" y="7620"/>
                    <a:pt x="7056374" y="16891"/>
                  </a:cubicBezTo>
                  <a:lnTo>
                    <a:pt x="7056374" y="5917819"/>
                  </a:lnTo>
                  <a:cubicBezTo>
                    <a:pt x="7056374" y="5927217"/>
                    <a:pt x="7048753" y="5934710"/>
                    <a:pt x="7039483" y="5934710"/>
                  </a:cubicBezTo>
                  <a:lnTo>
                    <a:pt x="16891" y="5934710"/>
                  </a:lnTo>
                  <a:cubicBezTo>
                    <a:pt x="7493" y="5934710"/>
                    <a:pt x="0" y="5927090"/>
                    <a:pt x="0" y="591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917819"/>
                  </a:lnTo>
                  <a:lnTo>
                    <a:pt x="16891" y="5917819"/>
                  </a:lnTo>
                  <a:lnTo>
                    <a:pt x="16891" y="5900928"/>
                  </a:lnTo>
                  <a:lnTo>
                    <a:pt x="7039483" y="5900928"/>
                  </a:lnTo>
                  <a:lnTo>
                    <a:pt x="7039483" y="5917819"/>
                  </a:lnTo>
                  <a:lnTo>
                    <a:pt x="7022592" y="5917819"/>
                  </a:lnTo>
                  <a:lnTo>
                    <a:pt x="7022592" y="16891"/>
                  </a:lnTo>
                  <a:lnTo>
                    <a:pt x="7039483" y="16891"/>
                  </a:lnTo>
                  <a:lnTo>
                    <a:pt x="7039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40231" y="4888487"/>
            <a:ext cx="1122683" cy="1122683"/>
            <a:chOff x="0" y="0"/>
            <a:chExt cx="1496911" cy="1496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852928" y="4901184"/>
            <a:ext cx="1097280" cy="1097280"/>
            <a:chOff x="0" y="0"/>
            <a:chExt cx="146304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7552" y="6181344"/>
            <a:ext cx="4828032" cy="694944"/>
            <a:chOff x="0" y="0"/>
            <a:chExt cx="6437376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37376" cy="926592"/>
            </a:xfrm>
            <a:custGeom>
              <a:avLst/>
              <a:gdLst/>
              <a:ahLst/>
              <a:cxnLst/>
              <a:rect r="r" b="b" t="t" l="l"/>
              <a:pathLst>
                <a:path h="926592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437376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Approve Pilot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7552" y="6986016"/>
            <a:ext cx="4828032" cy="2011680"/>
            <a:chOff x="0" y="0"/>
            <a:chExt cx="6437376" cy="2682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3737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37376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Authorise a 500-patient, 6-month pilot at one dialysis unit with IRB oversight.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61255" y="4778759"/>
            <a:ext cx="5292347" cy="4451099"/>
            <a:chOff x="0" y="0"/>
            <a:chExt cx="7056463" cy="59347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022592" cy="5900928"/>
            </a:xfrm>
            <a:custGeom>
              <a:avLst/>
              <a:gdLst/>
              <a:ahLst/>
              <a:cxnLst/>
              <a:rect r="r" b="b" t="t" l="l"/>
              <a:pathLst>
                <a:path h="59009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5900928"/>
                  </a:lnTo>
                  <a:lnTo>
                    <a:pt x="0" y="590092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56374" cy="5934710"/>
            </a:xfrm>
            <a:custGeom>
              <a:avLst/>
              <a:gdLst/>
              <a:ahLst/>
              <a:cxnLst/>
              <a:rect r="r" b="b" t="t" l="l"/>
              <a:pathLst>
                <a:path h="5934710" w="7056374">
                  <a:moveTo>
                    <a:pt x="16891" y="0"/>
                  </a:moveTo>
                  <a:lnTo>
                    <a:pt x="7039483" y="0"/>
                  </a:lnTo>
                  <a:cubicBezTo>
                    <a:pt x="7048881" y="0"/>
                    <a:pt x="7056374" y="7620"/>
                    <a:pt x="7056374" y="16891"/>
                  </a:cubicBezTo>
                  <a:lnTo>
                    <a:pt x="7056374" y="5917819"/>
                  </a:lnTo>
                  <a:cubicBezTo>
                    <a:pt x="7056374" y="5927217"/>
                    <a:pt x="7048753" y="5934710"/>
                    <a:pt x="7039483" y="5934710"/>
                  </a:cubicBezTo>
                  <a:lnTo>
                    <a:pt x="16891" y="5934710"/>
                  </a:lnTo>
                  <a:cubicBezTo>
                    <a:pt x="7493" y="5934710"/>
                    <a:pt x="0" y="5927090"/>
                    <a:pt x="0" y="591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917819"/>
                  </a:lnTo>
                  <a:lnTo>
                    <a:pt x="16891" y="5917819"/>
                  </a:lnTo>
                  <a:lnTo>
                    <a:pt x="16891" y="5900928"/>
                  </a:lnTo>
                  <a:lnTo>
                    <a:pt x="7039483" y="5900928"/>
                  </a:lnTo>
                  <a:lnTo>
                    <a:pt x="7039483" y="5917819"/>
                  </a:lnTo>
                  <a:lnTo>
                    <a:pt x="7022592" y="5917819"/>
                  </a:lnTo>
                  <a:lnTo>
                    <a:pt x="7022592" y="16891"/>
                  </a:lnTo>
                  <a:lnTo>
                    <a:pt x="7039483" y="16891"/>
                  </a:lnTo>
                  <a:lnTo>
                    <a:pt x="7039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46087" y="4888487"/>
            <a:ext cx="1122683" cy="1122683"/>
            <a:chOff x="0" y="0"/>
            <a:chExt cx="1496911" cy="14969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558784" y="4901184"/>
            <a:ext cx="1097280" cy="1097280"/>
            <a:chOff x="0" y="0"/>
            <a:chExt cx="146304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93408" y="6181344"/>
            <a:ext cx="4828032" cy="694944"/>
            <a:chOff x="0" y="0"/>
            <a:chExt cx="6437376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37376" cy="926592"/>
            </a:xfrm>
            <a:custGeom>
              <a:avLst/>
              <a:gdLst/>
              <a:ahLst/>
              <a:cxnLst/>
              <a:rect r="r" b="b" t="t" l="l"/>
              <a:pathLst>
                <a:path h="926592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437376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Fund Data Collection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93408" y="6986016"/>
            <a:ext cx="4828032" cy="2011680"/>
            <a:chOff x="0" y="0"/>
            <a:chExt cx="6437376" cy="2682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3737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437376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Allocate resources to collect race/ethnicity and real EHR data for model retraining.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167111" y="4778759"/>
            <a:ext cx="5292347" cy="4451099"/>
            <a:chOff x="0" y="0"/>
            <a:chExt cx="7056463" cy="59347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022592" cy="5900928"/>
            </a:xfrm>
            <a:custGeom>
              <a:avLst/>
              <a:gdLst/>
              <a:ahLst/>
              <a:cxnLst/>
              <a:rect r="r" b="b" t="t" l="l"/>
              <a:pathLst>
                <a:path h="59009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5900928"/>
                  </a:lnTo>
                  <a:lnTo>
                    <a:pt x="0" y="590092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56374" cy="5934710"/>
            </a:xfrm>
            <a:custGeom>
              <a:avLst/>
              <a:gdLst/>
              <a:ahLst/>
              <a:cxnLst/>
              <a:rect r="r" b="b" t="t" l="l"/>
              <a:pathLst>
                <a:path h="5934710" w="7056374">
                  <a:moveTo>
                    <a:pt x="16891" y="0"/>
                  </a:moveTo>
                  <a:lnTo>
                    <a:pt x="7039483" y="0"/>
                  </a:lnTo>
                  <a:cubicBezTo>
                    <a:pt x="7048881" y="0"/>
                    <a:pt x="7056374" y="7620"/>
                    <a:pt x="7056374" y="16891"/>
                  </a:cubicBezTo>
                  <a:lnTo>
                    <a:pt x="7056374" y="5917819"/>
                  </a:lnTo>
                  <a:cubicBezTo>
                    <a:pt x="7056374" y="5927217"/>
                    <a:pt x="7048753" y="5934710"/>
                    <a:pt x="7039483" y="5934710"/>
                  </a:cubicBezTo>
                  <a:lnTo>
                    <a:pt x="16891" y="5934710"/>
                  </a:lnTo>
                  <a:cubicBezTo>
                    <a:pt x="7493" y="5934710"/>
                    <a:pt x="0" y="5927090"/>
                    <a:pt x="0" y="591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917819"/>
                  </a:lnTo>
                  <a:lnTo>
                    <a:pt x="16891" y="5917819"/>
                  </a:lnTo>
                  <a:lnTo>
                    <a:pt x="16891" y="5900928"/>
                  </a:lnTo>
                  <a:lnTo>
                    <a:pt x="7039483" y="5900928"/>
                  </a:lnTo>
                  <a:lnTo>
                    <a:pt x="7039483" y="5917819"/>
                  </a:lnTo>
                  <a:lnTo>
                    <a:pt x="7022592" y="5917819"/>
                  </a:lnTo>
                  <a:lnTo>
                    <a:pt x="7022592" y="16891"/>
                  </a:lnTo>
                  <a:lnTo>
                    <a:pt x="7039483" y="16891"/>
                  </a:lnTo>
                  <a:lnTo>
                    <a:pt x="7039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251943" y="4888487"/>
            <a:ext cx="1122683" cy="1122683"/>
            <a:chOff x="0" y="0"/>
            <a:chExt cx="1496911" cy="14969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264640" y="4901184"/>
            <a:ext cx="1097280" cy="1097280"/>
            <a:chOff x="0" y="0"/>
            <a:chExt cx="1463040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399264" y="6181344"/>
            <a:ext cx="4828032" cy="694944"/>
            <a:chOff x="0" y="0"/>
            <a:chExt cx="6437376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37376" cy="926592"/>
            </a:xfrm>
            <a:custGeom>
              <a:avLst/>
              <a:gdLst/>
              <a:ahLst/>
              <a:cxnLst/>
              <a:rect r="r" b="b" t="t" l="l"/>
              <a:pathLst>
                <a:path h="926592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6437376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Assign Clinical Champion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99264" y="6986016"/>
            <a:ext cx="4828032" cy="2011680"/>
            <a:chOff x="0" y="0"/>
            <a:chExt cx="6437376" cy="2682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3737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437376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0F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Designate a nephrology lead to co-develop the alert workflow and threshold policy.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4400" y="9692640"/>
            <a:ext cx="16459200" cy="438912"/>
            <a:chOff x="0" y="0"/>
            <a:chExt cx="2194560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1945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Joseph Dominic Bichara  |  VascularGuard ML  |  Capstone 2026  |  Questions welcome.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DAHE3pg5nw8</dc:identifier>
  <dcterms:modified xsi:type="dcterms:W3CDTF">2011-08-01T06:04:30Z</dcterms:modified>
  <cp:revision>1</cp:revision>
  <dc:title>business_presentation_v2.pptx</dc:title>
</cp:coreProperties>
</file>