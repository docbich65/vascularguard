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21"/>
    </p:embeddedFont>
    <p:embeddedFont>
      <p:font typeface="Calibri (MS)" charset="1" panose="020F0502020204030204"/>
      <p:regular r:id="rId22"/>
    </p:embeddedFont>
    <p:embeddedFont>
      <p:font typeface="Calibri (MS) Italics" charset="1" panose="020F05020202040A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68096" y="694944"/>
            <a:ext cx="16824960" cy="585216"/>
            <a:chOff x="0" y="0"/>
            <a:chExt cx="22433280" cy="7802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780288"/>
            </a:xfrm>
            <a:custGeom>
              <a:avLst/>
              <a:gdLst/>
              <a:ahLst/>
              <a:cxnLst/>
              <a:rect r="r" b="b" t="t" l="l"/>
              <a:pathLst>
                <a:path h="78028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4332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800">
                  <a:solidFill>
                    <a:srgbClr val="C8DC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CAPSTONE TECHNICAL REPORT JOSEPH BICHARA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8096" y="1554480"/>
            <a:ext cx="16824960" cy="1645920"/>
            <a:chOff x="0" y="0"/>
            <a:chExt cx="22433280" cy="21945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180" r="0" b="-14918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61925"/>
              <a:ext cx="22433280" cy="2356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8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VascularGuard ML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8096" y="3145536"/>
            <a:ext cx="16824960" cy="1005840"/>
            <a:chOff x="0" y="0"/>
            <a:chExt cx="22433280" cy="1341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332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31" r="0" b="-27593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224332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C8DC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Dialysis Vascular Access Failure Prediction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9046" y="4406646"/>
            <a:ext cx="16789908" cy="38100"/>
            <a:chOff x="0" y="0"/>
            <a:chExt cx="22386544" cy="50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0"/>
              <a:ext cx="22335744" cy="50800"/>
            </a:xfrm>
            <a:custGeom>
              <a:avLst/>
              <a:gdLst/>
              <a:ahLst/>
              <a:cxnLst/>
              <a:rect r="r" b="b" t="t" l="l"/>
              <a:pathLst>
                <a:path h="50800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68096" y="4846320"/>
            <a:ext cx="16459200" cy="1828800"/>
            <a:chOff x="0" y="0"/>
            <a:chExt cx="21945600" cy="2438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1945600" cy="249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C8DC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Dataset: </a:t>
              </a:r>
              <a:r>
                <a:rPr lang="en-US" sz="2600">
                  <a:solidFill>
                    <a:srgbClr val="AABF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dialysis_access_v2.csv  |  3,000 patients  |  31.2% failure rate</a:t>
              </a:r>
            </a:p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C8DC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Models: </a:t>
              </a:r>
              <a:r>
                <a:rPr lang="en-US" sz="2600">
                  <a:solidFill>
                    <a:srgbClr val="AABF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Logistic Regression · SVM · KNN · Random Forest</a:t>
              </a:r>
            </a:p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C8DC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Primary Metric: </a:t>
              </a:r>
              <a:r>
                <a:rPr lang="en-US" sz="2600">
                  <a:solidFill>
                    <a:srgbClr val="AABF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F2-score (β=2, recall-weighted)  |  Top Test F2 = 0.7223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68096" y="9326880"/>
            <a:ext cx="16824960" cy="548640"/>
            <a:chOff x="0" y="0"/>
            <a:chExt cx="2243328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2433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94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Joseph Dominic Bichara  |  VascularGuard ML  |  2026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251943" y="8399783"/>
            <a:ext cx="3500123" cy="1342139"/>
            <a:chOff x="0" y="0"/>
            <a:chExt cx="4666831" cy="17895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46329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66742" cy="1789430"/>
            </a:xfrm>
            <a:custGeom>
              <a:avLst/>
              <a:gdLst/>
              <a:ahLst/>
              <a:cxnLst/>
              <a:rect r="r" b="b" t="t" l="l"/>
              <a:pathLst>
                <a:path h="1789430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1772539"/>
                  </a:lnTo>
                  <a:cubicBezTo>
                    <a:pt x="4666742" y="1781937"/>
                    <a:pt x="4659122" y="1789430"/>
                    <a:pt x="464985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4649851" y="1755648"/>
                  </a:lnTo>
                  <a:lnTo>
                    <a:pt x="4649851" y="1772539"/>
                  </a:lnTo>
                  <a:lnTo>
                    <a:pt x="4632960" y="1772539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4301216" y="8449056"/>
            <a:ext cx="3401568" cy="1243584"/>
            <a:chOff x="0" y="0"/>
            <a:chExt cx="4535424" cy="16581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35424" cy="1658112"/>
            </a:xfrm>
            <a:custGeom>
              <a:avLst/>
              <a:gdLst/>
              <a:ahLst/>
              <a:cxnLst/>
              <a:rect r="r" b="b" t="t" l="l"/>
              <a:pathLst>
                <a:path h="165811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7" r="0" b="-329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535424" cy="1696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8DC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Steps 1–6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8DC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Full Compliance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0080" y="146304"/>
            <a:ext cx="17007840" cy="512064"/>
            <a:chOff x="0" y="0"/>
            <a:chExt cx="22677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C8DC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1 — PROBLEM FRAMING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658368"/>
            <a:ext cx="17007840" cy="512064"/>
            <a:chOff x="0" y="0"/>
            <a:chExt cx="22677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Task Definition · Metric Selection · Clinical Justification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596647"/>
            <a:ext cx="8255003" cy="2439419"/>
            <a:chOff x="0" y="0"/>
            <a:chExt cx="11006671" cy="32525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972800" cy="3218688"/>
            </a:xfrm>
            <a:custGeom>
              <a:avLst/>
              <a:gdLst/>
              <a:ahLst/>
              <a:cxnLst/>
              <a:rect r="r" b="b" t="t" l="l"/>
              <a:pathLst>
                <a:path h="32186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18688"/>
                  </a:lnTo>
                  <a:lnTo>
                    <a:pt x="0" y="32186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6582" cy="3252470"/>
            </a:xfrm>
            <a:custGeom>
              <a:avLst/>
              <a:gdLst/>
              <a:ahLst/>
              <a:cxnLst/>
              <a:rect r="r" b="b" t="t" l="l"/>
              <a:pathLst>
                <a:path h="3252470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235579"/>
                  </a:lnTo>
                  <a:cubicBezTo>
                    <a:pt x="11006582" y="3244977"/>
                    <a:pt x="10998962" y="3252470"/>
                    <a:pt x="10989691" y="3252470"/>
                  </a:cubicBezTo>
                  <a:lnTo>
                    <a:pt x="16891" y="3252470"/>
                  </a:lnTo>
                  <a:cubicBezTo>
                    <a:pt x="7493" y="3252470"/>
                    <a:pt x="0" y="3244850"/>
                    <a:pt x="0" y="3235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235579"/>
                  </a:lnTo>
                  <a:lnTo>
                    <a:pt x="16891" y="3235579"/>
                  </a:lnTo>
                  <a:lnTo>
                    <a:pt x="16891" y="3218688"/>
                  </a:lnTo>
                  <a:lnTo>
                    <a:pt x="10989691" y="3218688"/>
                  </a:lnTo>
                  <a:lnTo>
                    <a:pt x="10989691" y="3235579"/>
                  </a:lnTo>
                  <a:lnTo>
                    <a:pt x="10972800" y="323557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596647"/>
            <a:ext cx="189995" cy="2439419"/>
            <a:chOff x="0" y="0"/>
            <a:chExt cx="253327" cy="32525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19456" cy="3218688"/>
            </a:xfrm>
            <a:custGeom>
              <a:avLst/>
              <a:gdLst/>
              <a:ahLst/>
              <a:cxnLst/>
              <a:rect r="r" b="b" t="t" l="l"/>
              <a:pathLst>
                <a:path h="3218688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3218688"/>
                  </a:lnTo>
                  <a:lnTo>
                    <a:pt x="0" y="3218688"/>
                  </a:ln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3238" cy="3252470"/>
            </a:xfrm>
            <a:custGeom>
              <a:avLst/>
              <a:gdLst/>
              <a:ahLst/>
              <a:cxnLst/>
              <a:rect r="r" b="b" t="t" l="l"/>
              <a:pathLst>
                <a:path h="3252470" w="253238">
                  <a:moveTo>
                    <a:pt x="16891" y="0"/>
                  </a:moveTo>
                  <a:lnTo>
                    <a:pt x="236347" y="0"/>
                  </a:lnTo>
                  <a:cubicBezTo>
                    <a:pt x="245745" y="0"/>
                    <a:pt x="253238" y="7620"/>
                    <a:pt x="253238" y="16891"/>
                  </a:cubicBezTo>
                  <a:lnTo>
                    <a:pt x="253238" y="3235579"/>
                  </a:lnTo>
                  <a:cubicBezTo>
                    <a:pt x="253238" y="3244977"/>
                    <a:pt x="245618" y="3252470"/>
                    <a:pt x="236347" y="3252470"/>
                  </a:cubicBezTo>
                  <a:lnTo>
                    <a:pt x="16891" y="3252470"/>
                  </a:lnTo>
                  <a:cubicBezTo>
                    <a:pt x="7493" y="3252470"/>
                    <a:pt x="0" y="3244850"/>
                    <a:pt x="0" y="3235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235579"/>
                  </a:lnTo>
                  <a:lnTo>
                    <a:pt x="16891" y="3235579"/>
                  </a:lnTo>
                  <a:lnTo>
                    <a:pt x="16891" y="3218688"/>
                  </a:lnTo>
                  <a:lnTo>
                    <a:pt x="236347" y="3218688"/>
                  </a:lnTo>
                  <a:lnTo>
                    <a:pt x="236347" y="3235579"/>
                  </a:lnTo>
                  <a:lnTo>
                    <a:pt x="219456" y="3235579"/>
                  </a:lnTo>
                  <a:lnTo>
                    <a:pt x="219456" y="16891"/>
                  </a:lnTo>
                  <a:lnTo>
                    <a:pt x="236347" y="16891"/>
                  </a:lnTo>
                  <a:lnTo>
                    <a:pt x="23634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50976" y="1755648"/>
            <a:ext cx="7315200" cy="475488"/>
            <a:chOff x="0" y="0"/>
            <a:chExt cx="9753600" cy="6339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753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7A94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TASK TYPE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0976" y="2157984"/>
            <a:ext cx="7315200" cy="585216"/>
            <a:chOff x="0" y="0"/>
            <a:chExt cx="9753600" cy="780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97536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Binary Classification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0976" y="2743200"/>
            <a:ext cx="7315200" cy="1005840"/>
            <a:chOff x="0" y="0"/>
            <a:chExt cx="9753600" cy="13411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753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94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Target: dialysis_failure (0 = no failure, 1 = failure)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35943" y="4230119"/>
            <a:ext cx="8255003" cy="2439419"/>
            <a:chOff x="0" y="0"/>
            <a:chExt cx="11006671" cy="32525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0972800" cy="3218688"/>
            </a:xfrm>
            <a:custGeom>
              <a:avLst/>
              <a:gdLst/>
              <a:ahLst/>
              <a:cxnLst/>
              <a:rect r="r" b="b" t="t" l="l"/>
              <a:pathLst>
                <a:path h="32186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18688"/>
                  </a:lnTo>
                  <a:lnTo>
                    <a:pt x="0" y="32186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006582" cy="3252470"/>
            </a:xfrm>
            <a:custGeom>
              <a:avLst/>
              <a:gdLst/>
              <a:ahLst/>
              <a:cxnLst/>
              <a:rect r="r" b="b" t="t" l="l"/>
              <a:pathLst>
                <a:path h="3252470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235579"/>
                  </a:lnTo>
                  <a:cubicBezTo>
                    <a:pt x="11006582" y="3244977"/>
                    <a:pt x="10998962" y="3252470"/>
                    <a:pt x="10989691" y="3252470"/>
                  </a:cubicBezTo>
                  <a:lnTo>
                    <a:pt x="16891" y="3252470"/>
                  </a:lnTo>
                  <a:cubicBezTo>
                    <a:pt x="7493" y="3252470"/>
                    <a:pt x="0" y="3244850"/>
                    <a:pt x="0" y="3235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235579"/>
                  </a:lnTo>
                  <a:lnTo>
                    <a:pt x="16891" y="3235579"/>
                  </a:lnTo>
                  <a:lnTo>
                    <a:pt x="16891" y="3218688"/>
                  </a:lnTo>
                  <a:lnTo>
                    <a:pt x="10989691" y="3218688"/>
                  </a:lnTo>
                  <a:lnTo>
                    <a:pt x="10989691" y="3235579"/>
                  </a:lnTo>
                  <a:lnTo>
                    <a:pt x="10972800" y="323557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35943" y="4230119"/>
            <a:ext cx="189995" cy="2439419"/>
            <a:chOff x="0" y="0"/>
            <a:chExt cx="253327" cy="32525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219456" cy="3218688"/>
            </a:xfrm>
            <a:custGeom>
              <a:avLst/>
              <a:gdLst/>
              <a:ahLst/>
              <a:cxnLst/>
              <a:rect r="r" b="b" t="t" l="l"/>
              <a:pathLst>
                <a:path h="3218688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3218688"/>
                  </a:lnTo>
                  <a:lnTo>
                    <a:pt x="0" y="3218688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3238" cy="3252470"/>
            </a:xfrm>
            <a:custGeom>
              <a:avLst/>
              <a:gdLst/>
              <a:ahLst/>
              <a:cxnLst/>
              <a:rect r="r" b="b" t="t" l="l"/>
              <a:pathLst>
                <a:path h="3252470" w="253238">
                  <a:moveTo>
                    <a:pt x="16891" y="0"/>
                  </a:moveTo>
                  <a:lnTo>
                    <a:pt x="236347" y="0"/>
                  </a:lnTo>
                  <a:cubicBezTo>
                    <a:pt x="245745" y="0"/>
                    <a:pt x="253238" y="7620"/>
                    <a:pt x="253238" y="16891"/>
                  </a:cubicBezTo>
                  <a:lnTo>
                    <a:pt x="253238" y="3235579"/>
                  </a:lnTo>
                  <a:cubicBezTo>
                    <a:pt x="253238" y="3244977"/>
                    <a:pt x="245618" y="3252470"/>
                    <a:pt x="236347" y="3252470"/>
                  </a:cubicBezTo>
                  <a:lnTo>
                    <a:pt x="16891" y="3252470"/>
                  </a:lnTo>
                  <a:cubicBezTo>
                    <a:pt x="7493" y="3252470"/>
                    <a:pt x="0" y="3244850"/>
                    <a:pt x="0" y="3235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235579"/>
                  </a:lnTo>
                  <a:lnTo>
                    <a:pt x="16891" y="3235579"/>
                  </a:lnTo>
                  <a:lnTo>
                    <a:pt x="16891" y="3218688"/>
                  </a:lnTo>
                  <a:lnTo>
                    <a:pt x="236347" y="3218688"/>
                  </a:lnTo>
                  <a:lnTo>
                    <a:pt x="236347" y="3235579"/>
                  </a:lnTo>
                  <a:lnTo>
                    <a:pt x="219456" y="3235579"/>
                  </a:lnTo>
                  <a:lnTo>
                    <a:pt x="219456" y="16891"/>
                  </a:lnTo>
                  <a:lnTo>
                    <a:pt x="236347" y="16891"/>
                  </a:lnTo>
                  <a:lnTo>
                    <a:pt x="23634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50976" y="4389120"/>
            <a:ext cx="7315200" cy="475488"/>
            <a:chOff x="0" y="0"/>
            <a:chExt cx="9753600" cy="6339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753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7A94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PRIMARY METRIC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50976" y="4791456"/>
            <a:ext cx="7315200" cy="585216"/>
            <a:chOff x="0" y="0"/>
            <a:chExt cx="9753600" cy="7802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97536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F2-score  (β = 2)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50976" y="5376672"/>
            <a:ext cx="7315200" cy="1005840"/>
            <a:chOff x="0" y="0"/>
            <a:chExt cx="9753600" cy="13411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53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753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94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Recall weighted 2× over precision — missing a failure is far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94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costlier than a false alarm in a dialysis access context.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35943" y="6863591"/>
            <a:ext cx="8255003" cy="2439419"/>
            <a:chOff x="0" y="0"/>
            <a:chExt cx="11006671" cy="325255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0972800" cy="3218688"/>
            </a:xfrm>
            <a:custGeom>
              <a:avLst/>
              <a:gdLst/>
              <a:ahLst/>
              <a:cxnLst/>
              <a:rect r="r" b="b" t="t" l="l"/>
              <a:pathLst>
                <a:path h="32186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18688"/>
                  </a:lnTo>
                  <a:lnTo>
                    <a:pt x="0" y="32186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006582" cy="3252470"/>
            </a:xfrm>
            <a:custGeom>
              <a:avLst/>
              <a:gdLst/>
              <a:ahLst/>
              <a:cxnLst/>
              <a:rect r="r" b="b" t="t" l="l"/>
              <a:pathLst>
                <a:path h="3252470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235579"/>
                  </a:lnTo>
                  <a:cubicBezTo>
                    <a:pt x="11006582" y="3244977"/>
                    <a:pt x="10998962" y="3252470"/>
                    <a:pt x="10989691" y="3252470"/>
                  </a:cubicBezTo>
                  <a:lnTo>
                    <a:pt x="16891" y="3252470"/>
                  </a:lnTo>
                  <a:cubicBezTo>
                    <a:pt x="7493" y="3252470"/>
                    <a:pt x="0" y="3244850"/>
                    <a:pt x="0" y="3235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235579"/>
                  </a:lnTo>
                  <a:lnTo>
                    <a:pt x="16891" y="3235579"/>
                  </a:lnTo>
                  <a:lnTo>
                    <a:pt x="16891" y="3218688"/>
                  </a:lnTo>
                  <a:lnTo>
                    <a:pt x="10989691" y="3218688"/>
                  </a:lnTo>
                  <a:lnTo>
                    <a:pt x="10989691" y="3235579"/>
                  </a:lnTo>
                  <a:lnTo>
                    <a:pt x="10972800" y="323557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35943" y="6863591"/>
            <a:ext cx="189995" cy="2439419"/>
            <a:chOff x="0" y="0"/>
            <a:chExt cx="253327" cy="325255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219456" cy="3218688"/>
            </a:xfrm>
            <a:custGeom>
              <a:avLst/>
              <a:gdLst/>
              <a:ahLst/>
              <a:cxnLst/>
              <a:rect r="r" b="b" t="t" l="l"/>
              <a:pathLst>
                <a:path h="3218688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3218688"/>
                  </a:lnTo>
                  <a:lnTo>
                    <a:pt x="0" y="3218688"/>
                  </a:lnTo>
                  <a:close/>
                </a:path>
              </a:pathLst>
            </a:custGeom>
            <a:solidFill>
              <a:srgbClr val="1A7A4A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53238" cy="3252470"/>
            </a:xfrm>
            <a:custGeom>
              <a:avLst/>
              <a:gdLst/>
              <a:ahLst/>
              <a:cxnLst/>
              <a:rect r="r" b="b" t="t" l="l"/>
              <a:pathLst>
                <a:path h="3252470" w="253238">
                  <a:moveTo>
                    <a:pt x="16891" y="0"/>
                  </a:moveTo>
                  <a:lnTo>
                    <a:pt x="236347" y="0"/>
                  </a:lnTo>
                  <a:cubicBezTo>
                    <a:pt x="245745" y="0"/>
                    <a:pt x="253238" y="7620"/>
                    <a:pt x="253238" y="16891"/>
                  </a:cubicBezTo>
                  <a:lnTo>
                    <a:pt x="253238" y="3235579"/>
                  </a:lnTo>
                  <a:cubicBezTo>
                    <a:pt x="253238" y="3244977"/>
                    <a:pt x="245618" y="3252470"/>
                    <a:pt x="236347" y="3252470"/>
                  </a:cubicBezTo>
                  <a:lnTo>
                    <a:pt x="16891" y="3252470"/>
                  </a:lnTo>
                  <a:cubicBezTo>
                    <a:pt x="7493" y="3252470"/>
                    <a:pt x="0" y="3244850"/>
                    <a:pt x="0" y="3235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235579"/>
                  </a:lnTo>
                  <a:lnTo>
                    <a:pt x="16891" y="3235579"/>
                  </a:lnTo>
                  <a:lnTo>
                    <a:pt x="16891" y="3218688"/>
                  </a:lnTo>
                  <a:lnTo>
                    <a:pt x="236347" y="3218688"/>
                  </a:lnTo>
                  <a:lnTo>
                    <a:pt x="236347" y="3235579"/>
                  </a:lnTo>
                  <a:lnTo>
                    <a:pt x="219456" y="3235579"/>
                  </a:lnTo>
                  <a:lnTo>
                    <a:pt x="219456" y="16891"/>
                  </a:lnTo>
                  <a:lnTo>
                    <a:pt x="236347" y="16891"/>
                  </a:lnTo>
                  <a:lnTo>
                    <a:pt x="23634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7A4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50976" y="7022592"/>
            <a:ext cx="7315200" cy="475488"/>
            <a:chOff x="0" y="0"/>
            <a:chExt cx="9753600" cy="6339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753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7A94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KPI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50976" y="7424928"/>
            <a:ext cx="7315200" cy="585216"/>
            <a:chOff x="0" y="0"/>
            <a:chExt cx="9753600" cy="7802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97536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Zero missed failures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50976" y="8010144"/>
            <a:ext cx="7315200" cy="1005840"/>
            <a:chOff x="0" y="0"/>
            <a:chExt cx="9753600" cy="13411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53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9753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94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Access failure = emergency surgery / permanent loss.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94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Early detection prevents permanent vascular damage.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314183" y="1596647"/>
            <a:ext cx="8437883" cy="7706363"/>
            <a:chOff x="0" y="0"/>
            <a:chExt cx="11250511" cy="1027515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1216640" cy="10241281"/>
            </a:xfrm>
            <a:custGeom>
              <a:avLst/>
              <a:gdLst/>
              <a:ahLst/>
              <a:cxnLst/>
              <a:rect r="r" b="b" t="t" l="l"/>
              <a:pathLst>
                <a:path h="10241281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241281"/>
                  </a:lnTo>
                  <a:lnTo>
                    <a:pt x="0" y="102412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250422" cy="10275062"/>
            </a:xfrm>
            <a:custGeom>
              <a:avLst/>
              <a:gdLst/>
              <a:ahLst/>
              <a:cxnLst/>
              <a:rect r="r" b="b" t="t" l="l"/>
              <a:pathLst>
                <a:path h="1027506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10258172"/>
                  </a:lnTo>
                  <a:cubicBezTo>
                    <a:pt x="11250422" y="10267569"/>
                    <a:pt x="11242802" y="10275062"/>
                    <a:pt x="11233531" y="10275062"/>
                  </a:cubicBezTo>
                  <a:lnTo>
                    <a:pt x="16891" y="10275062"/>
                  </a:lnTo>
                  <a:cubicBezTo>
                    <a:pt x="7493" y="10275062"/>
                    <a:pt x="0" y="10267442"/>
                    <a:pt x="0" y="102581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58172"/>
                  </a:lnTo>
                  <a:lnTo>
                    <a:pt x="16891" y="10258172"/>
                  </a:lnTo>
                  <a:lnTo>
                    <a:pt x="16891" y="10241280"/>
                  </a:lnTo>
                  <a:lnTo>
                    <a:pt x="11233531" y="10241280"/>
                  </a:lnTo>
                  <a:lnTo>
                    <a:pt x="11233531" y="10258172"/>
                  </a:lnTo>
                  <a:lnTo>
                    <a:pt x="11216640" y="10258172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601200" y="1828800"/>
            <a:ext cx="7863840" cy="512064"/>
            <a:chOff x="0" y="0"/>
            <a:chExt cx="10485120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485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200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F2, NOT ACCURACY?</a:t>
              </a:r>
            </a:p>
          </p:txBody>
        </p:sp>
      </p:grpSp>
      <p:graphicFrame>
        <p:nvGraphicFramePr>
          <p:cNvPr name="Table 62" id="62"/>
          <p:cNvGraphicFramePr>
            <a:graphicFrameLocks noGrp="true"/>
          </p:cNvGraphicFramePr>
          <p:nvPr/>
        </p:nvGraphicFramePr>
        <p:xfrm>
          <a:off x="9601200" y="2523744"/>
          <a:ext cx="7848600" cy="4572000"/>
        </p:xfrm>
        <a:graphic>
          <a:graphicData uri="http://schemas.openxmlformats.org/drawingml/2006/table">
            <a:tbl>
              <a:tblPr/>
              <a:tblGrid>
                <a:gridCol w="3289561"/>
                <a:gridCol w="4559039"/>
              </a:tblGrid>
              <a:tr h="1143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Outcome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1143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False Negative</a:t>
                      </a:r>
                      <a:endParaRPr lang="en-US" sz="1100"/>
                    </a:p>
                    <a:p>
                      <a:pPr algn="l">
                        <a:lnSpc>
                          <a:spcPts val="24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(missed failure)</a:t>
                      </a:r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Patient loses access →</a:t>
                      </a:r>
                      <a:endParaRPr lang="en-US" sz="1100"/>
                    </a:p>
                    <a:p>
                      <a:pPr algn="l">
                        <a:lnSpc>
                          <a:spcPts val="24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emergency surgery</a:t>
                      </a:r>
                    </a:p>
                    <a:p>
                      <a:pPr algn="l">
                        <a:lnSpc>
                          <a:spcPts val="24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or death</a:t>
                      </a:r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False Positive</a:t>
                      </a:r>
                      <a:endParaRPr lang="en-US" sz="1100"/>
                    </a:p>
                    <a:p>
                      <a:pPr algn="l">
                        <a:lnSpc>
                          <a:spcPts val="24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(false alarm)</a:t>
                      </a:r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Unnecessary check-up</a:t>
                      </a:r>
                      <a:endParaRPr lang="en-US" sz="1100"/>
                    </a:p>
                    <a:p>
                      <a:pPr algn="l">
                        <a:lnSpc>
                          <a:spcPts val="24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→ minor inconvenience</a:t>
                      </a:r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True Positive</a:t>
                      </a:r>
                      <a:endParaRPr lang="en-US" sz="1100"/>
                    </a:p>
                    <a:p>
                      <a:pPr algn="l">
                        <a:lnSpc>
                          <a:spcPts val="24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(caught early)</a:t>
                      </a:r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Timely intervention →</a:t>
                      </a:r>
                      <a:endParaRPr lang="en-US" sz="1100"/>
                    </a:p>
                    <a:p>
                      <a:pPr algn="l">
                        <a:lnSpc>
                          <a:spcPts val="24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access preserved ✓</a:t>
                      </a:r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3" id="63"/>
          <p:cNvGrpSpPr/>
          <p:nvPr/>
        </p:nvGrpSpPr>
        <p:grpSpPr>
          <a:xfrm rot="0">
            <a:off x="9601200" y="7315200"/>
            <a:ext cx="7863840" cy="1280160"/>
            <a:chOff x="0" y="0"/>
            <a:chExt cx="10485120" cy="17068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4851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3" r="0" b="-6969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1048512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0A162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↑ F2 aggressively minimises missed failures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0A162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by weighting recall twice as heavily as precision.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0080" y="146304"/>
            <a:ext cx="17007840" cy="512064"/>
            <a:chOff x="0" y="0"/>
            <a:chExt cx="22677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C8DC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2 — DATASET OVERVIEW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658368"/>
            <a:ext cx="17007840" cy="512064"/>
            <a:chOff x="0" y="0"/>
            <a:chExt cx="22677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dialysis_access_v2.csv — Why v2?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596647"/>
            <a:ext cx="3902459" cy="2037083"/>
            <a:chOff x="0" y="0"/>
            <a:chExt cx="5203279" cy="27161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169408" cy="2682240"/>
            </a:xfrm>
            <a:custGeom>
              <a:avLst/>
              <a:gdLst/>
              <a:ahLst/>
              <a:cxnLst/>
              <a:rect r="r" b="b" t="t" l="l"/>
              <a:pathLst>
                <a:path h="2682240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03190" cy="2716022"/>
            </a:xfrm>
            <a:custGeom>
              <a:avLst/>
              <a:gdLst/>
              <a:ahLst/>
              <a:cxnLst/>
              <a:rect r="r" b="b" t="t" l="l"/>
              <a:pathLst>
                <a:path h="2716022" w="5203190">
                  <a:moveTo>
                    <a:pt x="16891" y="0"/>
                  </a:moveTo>
                  <a:lnTo>
                    <a:pt x="5186299" y="0"/>
                  </a:lnTo>
                  <a:cubicBezTo>
                    <a:pt x="5195697" y="0"/>
                    <a:pt x="5203190" y="7620"/>
                    <a:pt x="5203190" y="16891"/>
                  </a:cubicBezTo>
                  <a:lnTo>
                    <a:pt x="5203190" y="2699131"/>
                  </a:lnTo>
                  <a:cubicBezTo>
                    <a:pt x="5203190" y="2708529"/>
                    <a:pt x="5195570" y="2716022"/>
                    <a:pt x="5186299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5186299" y="2682240"/>
                  </a:lnTo>
                  <a:lnTo>
                    <a:pt x="5186299" y="2699131"/>
                  </a:lnTo>
                  <a:lnTo>
                    <a:pt x="5169408" y="2699131"/>
                  </a:lnTo>
                  <a:lnTo>
                    <a:pt x="5169408" y="16891"/>
                  </a:lnTo>
                  <a:lnTo>
                    <a:pt x="5186299" y="16891"/>
                  </a:lnTo>
                  <a:lnTo>
                    <a:pt x="51862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57200" y="1755648"/>
            <a:ext cx="3877056" cy="1060704"/>
            <a:chOff x="0" y="0"/>
            <a:chExt cx="5169408" cy="14142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69408" cy="1414272"/>
            </a:xfrm>
            <a:custGeom>
              <a:avLst/>
              <a:gdLst/>
              <a:ahLst/>
              <a:cxnLst/>
              <a:rect r="r" b="b" t="t" l="l"/>
              <a:pathLst>
                <a:path h="1414272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21" r="0" b="-2122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23825"/>
              <a:ext cx="5169408" cy="1538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3,000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57200" y="2816352"/>
            <a:ext cx="3877056" cy="548640"/>
            <a:chOff x="0" y="0"/>
            <a:chExt cx="5169408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69408" cy="731520"/>
            </a:xfrm>
            <a:custGeom>
              <a:avLst/>
              <a:gdLst/>
              <a:ahLst/>
              <a:cxnLst/>
              <a:rect r="r" b="b" t="t" l="l"/>
              <a:pathLst>
                <a:path h="731520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694" r="0" b="-8769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16940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8DC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Patients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797047" y="1596647"/>
            <a:ext cx="3902459" cy="2037083"/>
            <a:chOff x="0" y="0"/>
            <a:chExt cx="5203279" cy="27161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5169408" cy="2682240"/>
            </a:xfrm>
            <a:custGeom>
              <a:avLst/>
              <a:gdLst/>
              <a:ahLst/>
              <a:cxnLst/>
              <a:rect r="r" b="b" t="t" l="l"/>
              <a:pathLst>
                <a:path h="2682240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03190" cy="2716022"/>
            </a:xfrm>
            <a:custGeom>
              <a:avLst/>
              <a:gdLst/>
              <a:ahLst/>
              <a:cxnLst/>
              <a:rect r="r" b="b" t="t" l="l"/>
              <a:pathLst>
                <a:path h="2716022" w="5203190">
                  <a:moveTo>
                    <a:pt x="16891" y="0"/>
                  </a:moveTo>
                  <a:lnTo>
                    <a:pt x="5186299" y="0"/>
                  </a:lnTo>
                  <a:cubicBezTo>
                    <a:pt x="5195697" y="0"/>
                    <a:pt x="5203190" y="7620"/>
                    <a:pt x="5203190" y="16891"/>
                  </a:cubicBezTo>
                  <a:lnTo>
                    <a:pt x="5203190" y="2699131"/>
                  </a:lnTo>
                  <a:cubicBezTo>
                    <a:pt x="5203190" y="2708529"/>
                    <a:pt x="5195570" y="2716022"/>
                    <a:pt x="5186299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5186299" y="2682240"/>
                  </a:lnTo>
                  <a:lnTo>
                    <a:pt x="5186299" y="2699131"/>
                  </a:lnTo>
                  <a:lnTo>
                    <a:pt x="5169408" y="2699131"/>
                  </a:lnTo>
                  <a:lnTo>
                    <a:pt x="5169408" y="16891"/>
                  </a:lnTo>
                  <a:lnTo>
                    <a:pt x="5186299" y="16891"/>
                  </a:lnTo>
                  <a:lnTo>
                    <a:pt x="51862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809744" y="1755648"/>
            <a:ext cx="3877056" cy="1060704"/>
            <a:chOff x="0" y="0"/>
            <a:chExt cx="5169408" cy="14142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69408" cy="1414272"/>
            </a:xfrm>
            <a:custGeom>
              <a:avLst/>
              <a:gdLst/>
              <a:ahLst/>
              <a:cxnLst/>
              <a:rect r="r" b="b" t="t" l="l"/>
              <a:pathLst>
                <a:path h="1414272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21" r="0" b="-2122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23825"/>
              <a:ext cx="5169408" cy="1538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35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809744" y="2816352"/>
            <a:ext cx="3877056" cy="548640"/>
            <a:chOff x="0" y="0"/>
            <a:chExt cx="5169408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69408" cy="731520"/>
            </a:xfrm>
            <a:custGeom>
              <a:avLst/>
              <a:gdLst/>
              <a:ahLst/>
              <a:cxnLst/>
              <a:rect r="r" b="b" t="t" l="l"/>
              <a:pathLst>
                <a:path h="731520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694" r="0" b="-8769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16940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8DC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9591" y="1596647"/>
            <a:ext cx="3902459" cy="2037083"/>
            <a:chOff x="0" y="0"/>
            <a:chExt cx="5203279" cy="27161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5169408" cy="2682240"/>
            </a:xfrm>
            <a:custGeom>
              <a:avLst/>
              <a:gdLst/>
              <a:ahLst/>
              <a:cxnLst/>
              <a:rect r="r" b="b" t="t" l="l"/>
              <a:pathLst>
                <a:path h="2682240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03190" cy="2716022"/>
            </a:xfrm>
            <a:custGeom>
              <a:avLst/>
              <a:gdLst/>
              <a:ahLst/>
              <a:cxnLst/>
              <a:rect r="r" b="b" t="t" l="l"/>
              <a:pathLst>
                <a:path h="2716022" w="5203190">
                  <a:moveTo>
                    <a:pt x="16891" y="0"/>
                  </a:moveTo>
                  <a:lnTo>
                    <a:pt x="5186299" y="0"/>
                  </a:lnTo>
                  <a:cubicBezTo>
                    <a:pt x="5195697" y="0"/>
                    <a:pt x="5203190" y="7620"/>
                    <a:pt x="5203190" y="16891"/>
                  </a:cubicBezTo>
                  <a:lnTo>
                    <a:pt x="5203190" y="2699131"/>
                  </a:lnTo>
                  <a:cubicBezTo>
                    <a:pt x="5203190" y="2708529"/>
                    <a:pt x="5195570" y="2716022"/>
                    <a:pt x="5186299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5186299" y="2682240"/>
                  </a:lnTo>
                  <a:lnTo>
                    <a:pt x="5186299" y="2699131"/>
                  </a:lnTo>
                  <a:lnTo>
                    <a:pt x="5169408" y="2699131"/>
                  </a:lnTo>
                  <a:lnTo>
                    <a:pt x="5169408" y="16891"/>
                  </a:lnTo>
                  <a:lnTo>
                    <a:pt x="5186299" y="16891"/>
                  </a:lnTo>
                  <a:lnTo>
                    <a:pt x="51862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62288" y="1755648"/>
            <a:ext cx="3877056" cy="1060704"/>
            <a:chOff x="0" y="0"/>
            <a:chExt cx="5169408" cy="14142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69408" cy="1414272"/>
            </a:xfrm>
            <a:custGeom>
              <a:avLst/>
              <a:gdLst/>
              <a:ahLst/>
              <a:cxnLst/>
              <a:rect r="r" b="b" t="t" l="l"/>
              <a:pathLst>
                <a:path h="1414272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21" r="0" b="-2122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23825"/>
              <a:ext cx="5169408" cy="1538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31.2%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62288" y="2816352"/>
            <a:ext cx="3877056" cy="548640"/>
            <a:chOff x="0" y="0"/>
            <a:chExt cx="5169408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69408" cy="731520"/>
            </a:xfrm>
            <a:custGeom>
              <a:avLst/>
              <a:gdLst/>
              <a:ahLst/>
              <a:cxnLst/>
              <a:rect r="r" b="b" t="t" l="l"/>
              <a:pathLst>
                <a:path h="731520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694" r="0" b="-8769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16940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8DC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Failure Rate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502135" y="1596647"/>
            <a:ext cx="3902459" cy="2037083"/>
            <a:chOff x="0" y="0"/>
            <a:chExt cx="5203279" cy="27161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5169408" cy="2682240"/>
            </a:xfrm>
            <a:custGeom>
              <a:avLst/>
              <a:gdLst/>
              <a:ahLst/>
              <a:cxnLst/>
              <a:rect r="r" b="b" t="t" l="l"/>
              <a:pathLst>
                <a:path h="2682240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203190" cy="2716022"/>
            </a:xfrm>
            <a:custGeom>
              <a:avLst/>
              <a:gdLst/>
              <a:ahLst/>
              <a:cxnLst/>
              <a:rect r="r" b="b" t="t" l="l"/>
              <a:pathLst>
                <a:path h="2716022" w="5203190">
                  <a:moveTo>
                    <a:pt x="16891" y="0"/>
                  </a:moveTo>
                  <a:lnTo>
                    <a:pt x="5186299" y="0"/>
                  </a:lnTo>
                  <a:cubicBezTo>
                    <a:pt x="5195697" y="0"/>
                    <a:pt x="5203190" y="7620"/>
                    <a:pt x="5203190" y="16891"/>
                  </a:cubicBezTo>
                  <a:lnTo>
                    <a:pt x="5203190" y="2699131"/>
                  </a:lnTo>
                  <a:cubicBezTo>
                    <a:pt x="5203190" y="2708529"/>
                    <a:pt x="5195570" y="2716022"/>
                    <a:pt x="5186299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5186299" y="2682240"/>
                  </a:lnTo>
                  <a:lnTo>
                    <a:pt x="5186299" y="2699131"/>
                  </a:lnTo>
                  <a:lnTo>
                    <a:pt x="5169408" y="2699131"/>
                  </a:lnTo>
                  <a:lnTo>
                    <a:pt x="5169408" y="16891"/>
                  </a:lnTo>
                  <a:lnTo>
                    <a:pt x="5186299" y="16891"/>
                  </a:lnTo>
                  <a:lnTo>
                    <a:pt x="51862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514832" y="1755648"/>
            <a:ext cx="3877056" cy="1060704"/>
            <a:chOff x="0" y="0"/>
            <a:chExt cx="5169408" cy="14142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169408" cy="1414272"/>
            </a:xfrm>
            <a:custGeom>
              <a:avLst/>
              <a:gdLst/>
              <a:ahLst/>
              <a:cxnLst/>
              <a:rect r="r" b="b" t="t" l="l"/>
              <a:pathLst>
                <a:path h="1414272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21" r="0" b="-2122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23825"/>
              <a:ext cx="5169408" cy="1538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0.329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14832" y="2816352"/>
            <a:ext cx="3877056" cy="548640"/>
            <a:chOff x="0" y="0"/>
            <a:chExt cx="5169408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69408" cy="731520"/>
            </a:xfrm>
            <a:custGeom>
              <a:avLst/>
              <a:gdLst/>
              <a:ahLst/>
              <a:cxnLst/>
              <a:rect r="r" b="b" t="t" l="l"/>
              <a:pathLst>
                <a:path h="731520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694" r="0" b="-8769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16940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C8DC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 |r| with Target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48640" y="3950208"/>
            <a:ext cx="17190720" cy="548640"/>
            <a:chOff x="0" y="0"/>
            <a:chExt cx="2292096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920961" cy="731520"/>
            </a:xfrm>
            <a:custGeom>
              <a:avLst/>
              <a:gdLst/>
              <a:ahLst/>
              <a:cxnLst/>
              <a:rect r="r" b="b" t="t" l="l"/>
              <a:pathLst>
                <a:path h="7315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0531" r="0" b="-56053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2920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v1 → v2: Why the Dataset Was Upgraded</a:t>
              </a:r>
            </a:p>
          </p:txBody>
        </p:sp>
      </p:grpSp>
      <p:graphicFrame>
        <p:nvGraphicFramePr>
          <p:cNvPr name="Table 50" id="50"/>
          <p:cNvGraphicFramePr>
            <a:graphicFrameLocks noGrp="true"/>
          </p:cNvGraphicFramePr>
          <p:nvPr/>
        </p:nvGraphicFramePr>
        <p:xfrm>
          <a:off x="548640" y="4608576"/>
          <a:ext cx="17170400" cy="4724400"/>
        </p:xfrm>
        <a:graphic>
          <a:graphicData uri="http://schemas.openxmlformats.org/drawingml/2006/table">
            <a:tbl>
              <a:tblPr/>
              <a:tblGrid>
                <a:gridCol w="3838624"/>
                <a:gridCol w="3838624"/>
                <a:gridCol w="4746576"/>
                <a:gridCol w="4746576"/>
              </a:tblGrid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Property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Original (v1)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Upgraded (v2)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Impact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Top |r| with target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0.092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0.329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3.6× stronger signal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AUC (RF baseline)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~0.54 (near random)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~0.76 (genuine discrim.)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Real learning, not threshold hack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Feature correlations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Weak / synthetic noise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Clinically coherent interactions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PVD×steal, graft×infection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Failure rate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36.8%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31.2%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More realistic class ratio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av_graft proportion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~36%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~49% (1,460 rows)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More graft diversity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51" id="51"/>
          <p:cNvGrpSpPr/>
          <p:nvPr/>
        </p:nvGrpSpPr>
        <p:grpSpPr>
          <a:xfrm rot="0">
            <a:off x="548640" y="9546336"/>
            <a:ext cx="17190720" cy="512064"/>
            <a:chOff x="0" y="0"/>
            <a:chExt cx="22920960" cy="6827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920961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40" r="0" b="-60414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229209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7A94A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v2 has significantly stronger and clinically coherent signals — models genuinely discriminate rather than rely on threshold manipulation.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0080" y="146304"/>
            <a:ext cx="17007840" cy="512064"/>
            <a:chOff x="0" y="0"/>
            <a:chExt cx="22677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C8DC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3 — EDA HIGHLIGHTS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658368"/>
            <a:ext cx="17007840" cy="512064"/>
            <a:chOff x="0" y="0"/>
            <a:chExt cx="22677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 Balance · Correlations · Key Predictors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5985767"/>
            <a:ext cx="17399003" cy="3902459"/>
            <a:chOff x="0" y="0"/>
            <a:chExt cx="23198671" cy="52032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3164799" cy="5169408"/>
            </a:xfrm>
            <a:custGeom>
              <a:avLst/>
              <a:gdLst/>
              <a:ahLst/>
              <a:cxnLst/>
              <a:rect r="r" b="b" t="t" l="l"/>
              <a:pathLst>
                <a:path h="5169408" w="23164799">
                  <a:moveTo>
                    <a:pt x="0" y="0"/>
                  </a:moveTo>
                  <a:lnTo>
                    <a:pt x="23164799" y="0"/>
                  </a:lnTo>
                  <a:lnTo>
                    <a:pt x="23164799" y="5169408"/>
                  </a:lnTo>
                  <a:lnTo>
                    <a:pt x="0" y="51694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198582" cy="5203190"/>
            </a:xfrm>
            <a:custGeom>
              <a:avLst/>
              <a:gdLst/>
              <a:ahLst/>
              <a:cxnLst/>
              <a:rect r="r" b="b" t="t" l="l"/>
              <a:pathLst>
                <a:path h="5203190" w="23198582">
                  <a:moveTo>
                    <a:pt x="16891" y="0"/>
                  </a:moveTo>
                  <a:lnTo>
                    <a:pt x="23181690" y="0"/>
                  </a:lnTo>
                  <a:cubicBezTo>
                    <a:pt x="23191090" y="0"/>
                    <a:pt x="23198582" y="7620"/>
                    <a:pt x="23198582" y="16891"/>
                  </a:cubicBezTo>
                  <a:lnTo>
                    <a:pt x="23198582" y="5186299"/>
                  </a:lnTo>
                  <a:cubicBezTo>
                    <a:pt x="23198582" y="5195697"/>
                    <a:pt x="23190963" y="5203190"/>
                    <a:pt x="23181690" y="5203190"/>
                  </a:cubicBezTo>
                  <a:lnTo>
                    <a:pt x="16891" y="5203190"/>
                  </a:lnTo>
                  <a:cubicBezTo>
                    <a:pt x="7493" y="5203190"/>
                    <a:pt x="0" y="5195570"/>
                    <a:pt x="0" y="5186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86299"/>
                  </a:lnTo>
                  <a:lnTo>
                    <a:pt x="16891" y="5186299"/>
                  </a:lnTo>
                  <a:lnTo>
                    <a:pt x="16891" y="5169408"/>
                  </a:lnTo>
                  <a:lnTo>
                    <a:pt x="23181690" y="5169408"/>
                  </a:lnTo>
                  <a:lnTo>
                    <a:pt x="23181690" y="5186299"/>
                  </a:lnTo>
                  <a:lnTo>
                    <a:pt x="23164800" y="5186299"/>
                  </a:lnTo>
                  <a:lnTo>
                    <a:pt x="23164800" y="16891"/>
                  </a:lnTo>
                  <a:lnTo>
                    <a:pt x="23181690" y="16891"/>
                  </a:lnTo>
                  <a:lnTo>
                    <a:pt x="231816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68096" y="6181344"/>
            <a:ext cx="16459200" cy="475488"/>
            <a:chOff x="0" y="0"/>
            <a:chExt cx="21945600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945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7A94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PREDICTORS (Dialysis v2)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68096" y="6729984"/>
            <a:ext cx="16642080" cy="2926080"/>
            <a:chOff x="0" y="0"/>
            <a:chExt cx="22189440" cy="3901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9439" cy="3901440"/>
            </a:xfrm>
            <a:custGeom>
              <a:avLst/>
              <a:gdLst/>
              <a:ahLst/>
              <a:cxnLst/>
              <a:rect r="r" b="b" t="t" l="l"/>
              <a:pathLst>
                <a:path h="390144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821" r="0" b="-6082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2189440" cy="3949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Recirculation Rate &gt; 5%  </a:t>
              </a:r>
              <a:r>
                <a:rPr lang="en-US" sz="2100">
                  <a:solidFill>
                    <a:srgbClr val="7A94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(r = 0.329) — strongest signal; access blood returning untreated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Venous Pressure &gt; 200 mmHg  </a:t>
              </a:r>
              <a:r>
                <a:rPr lang="en-US" sz="2100">
                  <a:solidFill>
                    <a:srgbClr val="7A94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(r = 0.286) — downstream stenosis marker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Blood Flow &lt; 300 mL/min  </a:t>
              </a:r>
              <a:r>
                <a:rPr lang="en-US" sz="2100">
                  <a:solidFill>
                    <a:srgbClr val="7A94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(r = −0.258) — narowing / thrombosis indicator</a:t>
              </a: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dial_maturation_status 'failing'  </a:t>
              </a:r>
              <a:r>
                <a:rPr lang="en-US" sz="2100">
                  <a:solidFill>
                    <a:srgbClr val="7A94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Δ +17.1pp vs 'mature' — strongest categorical signal</a:t>
              </a:r>
            </a:p>
          </p:txBody>
        </p:sp>
      </p:grpSp>
      <p:sp>
        <p:nvSpPr>
          <p:cNvPr name="Freeform 20" id="20" descr="/sessions/keen-dreamy-ritchie/mnt/Doc Capstone Files/VascularGuard-ML/reports/figures/v207_dial_target_distribution.png"/>
          <p:cNvSpPr/>
          <p:nvPr/>
        </p:nvSpPr>
        <p:spPr>
          <a:xfrm flipH="false" flipV="false" rot="0">
            <a:off x="1793985" y="1832149"/>
            <a:ext cx="8218993" cy="3650912"/>
          </a:xfrm>
          <a:custGeom>
            <a:avLst/>
            <a:gdLst/>
            <a:ahLst/>
            <a:cxnLst/>
            <a:rect r="r" b="b" t="t" l="l"/>
            <a:pathLst>
              <a:path h="3650912" w="8218993">
                <a:moveTo>
                  <a:pt x="0" y="0"/>
                </a:moveTo>
                <a:lnTo>
                  <a:pt x="8218992" y="0"/>
                </a:lnTo>
                <a:lnTo>
                  <a:pt x="8218992" y="3650912"/>
                </a:lnTo>
                <a:lnTo>
                  <a:pt x="0" y="36509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 descr="/sessions/keen-dreamy-ritchie/mnt/Doc Capstone Files/VascularGuard-ML/reports/figures/v2_10_dial_correlation_heatmap.png"/>
          <p:cNvSpPr/>
          <p:nvPr/>
        </p:nvSpPr>
        <p:spPr>
          <a:xfrm flipH="false" flipV="false" rot="0">
            <a:off x="11330247" y="1492588"/>
            <a:ext cx="5362982" cy="4416980"/>
          </a:xfrm>
          <a:custGeom>
            <a:avLst/>
            <a:gdLst/>
            <a:ahLst/>
            <a:cxnLst/>
            <a:rect r="r" b="b" t="t" l="l"/>
            <a:pathLst>
              <a:path h="4416980" w="5362982">
                <a:moveTo>
                  <a:pt x="0" y="0"/>
                </a:moveTo>
                <a:lnTo>
                  <a:pt x="5362982" y="0"/>
                </a:lnTo>
                <a:lnTo>
                  <a:pt x="5362982" y="4416979"/>
                </a:lnTo>
                <a:lnTo>
                  <a:pt x="0" y="44169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0080" y="146304"/>
            <a:ext cx="17007840" cy="512064"/>
            <a:chOff x="0" y="0"/>
            <a:chExt cx="22677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C8DC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3 — FEATURE ENGINEERING &amp; PREPROCESSING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658368"/>
            <a:ext cx="17007840" cy="512064"/>
            <a:chOff x="0" y="0"/>
            <a:chExt cx="22677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Encoding · Scaling · SMOTE · Domain-Derived Features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9367" y="1669799"/>
            <a:ext cx="8437883" cy="2512571"/>
            <a:chOff x="0" y="0"/>
            <a:chExt cx="11250511" cy="33500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216640" cy="3316224"/>
            </a:xfrm>
            <a:custGeom>
              <a:avLst/>
              <a:gdLst/>
              <a:ahLst/>
              <a:cxnLst/>
              <a:rect r="r" b="b" t="t" l="l"/>
              <a:pathLst>
                <a:path h="3316224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316224"/>
                  </a:lnTo>
                  <a:lnTo>
                    <a:pt x="0" y="33162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50422" cy="3350006"/>
            </a:xfrm>
            <a:custGeom>
              <a:avLst/>
              <a:gdLst/>
              <a:ahLst/>
              <a:cxnLst/>
              <a:rect r="r" b="b" t="t" l="l"/>
              <a:pathLst>
                <a:path h="335000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333115"/>
                  </a:lnTo>
                  <a:cubicBezTo>
                    <a:pt x="11250422" y="3342513"/>
                    <a:pt x="11242802" y="3350006"/>
                    <a:pt x="11233531" y="3350006"/>
                  </a:cubicBezTo>
                  <a:lnTo>
                    <a:pt x="16891" y="3350006"/>
                  </a:lnTo>
                  <a:cubicBezTo>
                    <a:pt x="7493" y="3350006"/>
                    <a:pt x="0" y="3342386"/>
                    <a:pt x="0" y="33331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33115"/>
                  </a:lnTo>
                  <a:lnTo>
                    <a:pt x="16891" y="3333115"/>
                  </a:lnTo>
                  <a:lnTo>
                    <a:pt x="16891" y="3316224"/>
                  </a:lnTo>
                  <a:lnTo>
                    <a:pt x="11233531" y="3316224"/>
                  </a:lnTo>
                  <a:lnTo>
                    <a:pt x="11233531" y="3333115"/>
                  </a:lnTo>
                  <a:lnTo>
                    <a:pt x="11216640" y="3333115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1889255"/>
            <a:ext cx="720347" cy="720347"/>
            <a:chOff x="0" y="0"/>
            <a:chExt cx="960463" cy="9604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1901952"/>
            <a:ext cx="694944" cy="694944"/>
            <a:chOff x="0" y="0"/>
            <a:chExt cx="926592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45920" y="1865376"/>
            <a:ext cx="7040880" cy="512064"/>
            <a:chOff x="0" y="0"/>
            <a:chExt cx="938784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387840" cy="682752"/>
            </a:xfrm>
            <a:custGeom>
              <a:avLst/>
              <a:gdLst/>
              <a:ahLst/>
              <a:cxnLst/>
              <a:rect r="r" b="b" t="t" l="l"/>
              <a:pathLst>
                <a:path h="68275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3878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Drop Zero-Variance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45920" y="2414016"/>
            <a:ext cx="7040880" cy="1499616"/>
            <a:chOff x="0" y="0"/>
            <a:chExt cx="9387840" cy="19994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3878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484" r="0" b="-4148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387840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7A94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chronic_kidney_disease = 1 for all dialysis patients → dropped (zero predictive value)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9367" y="4449575"/>
            <a:ext cx="8437883" cy="2512571"/>
            <a:chOff x="0" y="0"/>
            <a:chExt cx="11250511" cy="335009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1216640" cy="3316224"/>
            </a:xfrm>
            <a:custGeom>
              <a:avLst/>
              <a:gdLst/>
              <a:ahLst/>
              <a:cxnLst/>
              <a:rect r="r" b="b" t="t" l="l"/>
              <a:pathLst>
                <a:path h="3316224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316224"/>
                  </a:lnTo>
                  <a:lnTo>
                    <a:pt x="0" y="33162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250422" cy="3350006"/>
            </a:xfrm>
            <a:custGeom>
              <a:avLst/>
              <a:gdLst/>
              <a:ahLst/>
              <a:cxnLst/>
              <a:rect r="r" b="b" t="t" l="l"/>
              <a:pathLst>
                <a:path h="335000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333115"/>
                  </a:lnTo>
                  <a:cubicBezTo>
                    <a:pt x="11250422" y="3342513"/>
                    <a:pt x="11242802" y="3350006"/>
                    <a:pt x="11233531" y="3350006"/>
                  </a:cubicBezTo>
                  <a:lnTo>
                    <a:pt x="16891" y="3350006"/>
                  </a:lnTo>
                  <a:cubicBezTo>
                    <a:pt x="7493" y="3350006"/>
                    <a:pt x="0" y="3342386"/>
                    <a:pt x="0" y="33331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33115"/>
                  </a:lnTo>
                  <a:lnTo>
                    <a:pt x="16891" y="3333115"/>
                  </a:lnTo>
                  <a:lnTo>
                    <a:pt x="16891" y="3316224"/>
                  </a:lnTo>
                  <a:lnTo>
                    <a:pt x="11233531" y="3316224"/>
                  </a:lnTo>
                  <a:lnTo>
                    <a:pt x="11233531" y="3333115"/>
                  </a:lnTo>
                  <a:lnTo>
                    <a:pt x="11216640" y="3333115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18823" y="4669031"/>
            <a:ext cx="720347" cy="720347"/>
            <a:chOff x="0" y="0"/>
            <a:chExt cx="960463" cy="96046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31520" y="4681728"/>
            <a:ext cx="694944" cy="694944"/>
            <a:chOff x="0" y="0"/>
            <a:chExt cx="926592" cy="926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645920" y="4645152"/>
            <a:ext cx="7040880" cy="512064"/>
            <a:chOff x="0" y="0"/>
            <a:chExt cx="938784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387840" cy="682752"/>
            </a:xfrm>
            <a:custGeom>
              <a:avLst/>
              <a:gdLst/>
              <a:ahLst/>
              <a:cxnLst/>
              <a:rect r="r" b="b" t="t" l="l"/>
              <a:pathLst>
                <a:path h="68275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3878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NaN Handling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45920" y="5193792"/>
            <a:ext cx="7040880" cy="1499616"/>
            <a:chOff x="0" y="0"/>
            <a:chExt cx="9387840" cy="19994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3878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484" r="0" b="-4148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387840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7A94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dial_maturation_status NaN → 'N/A_graft' (1,460 AV-graft rows — not missing data)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99367" y="7229351"/>
            <a:ext cx="8437883" cy="2512571"/>
            <a:chOff x="0" y="0"/>
            <a:chExt cx="11250511" cy="335009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1216640" cy="3316224"/>
            </a:xfrm>
            <a:custGeom>
              <a:avLst/>
              <a:gdLst/>
              <a:ahLst/>
              <a:cxnLst/>
              <a:rect r="r" b="b" t="t" l="l"/>
              <a:pathLst>
                <a:path h="3316224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316224"/>
                  </a:lnTo>
                  <a:lnTo>
                    <a:pt x="0" y="33162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250422" cy="3350006"/>
            </a:xfrm>
            <a:custGeom>
              <a:avLst/>
              <a:gdLst/>
              <a:ahLst/>
              <a:cxnLst/>
              <a:rect r="r" b="b" t="t" l="l"/>
              <a:pathLst>
                <a:path h="335000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333115"/>
                  </a:lnTo>
                  <a:cubicBezTo>
                    <a:pt x="11250422" y="3342513"/>
                    <a:pt x="11242802" y="3350006"/>
                    <a:pt x="11233531" y="3350006"/>
                  </a:cubicBezTo>
                  <a:lnTo>
                    <a:pt x="16891" y="3350006"/>
                  </a:lnTo>
                  <a:cubicBezTo>
                    <a:pt x="7493" y="3350006"/>
                    <a:pt x="0" y="3342386"/>
                    <a:pt x="0" y="33331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33115"/>
                  </a:lnTo>
                  <a:lnTo>
                    <a:pt x="16891" y="3333115"/>
                  </a:lnTo>
                  <a:lnTo>
                    <a:pt x="16891" y="3316224"/>
                  </a:lnTo>
                  <a:lnTo>
                    <a:pt x="11233531" y="3316224"/>
                  </a:lnTo>
                  <a:lnTo>
                    <a:pt x="11233531" y="3333115"/>
                  </a:lnTo>
                  <a:lnTo>
                    <a:pt x="11216640" y="3333115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18823" y="7448807"/>
            <a:ext cx="720347" cy="720347"/>
            <a:chOff x="0" y="0"/>
            <a:chExt cx="960463" cy="96046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31520" y="7461504"/>
            <a:ext cx="694944" cy="694944"/>
            <a:chOff x="0" y="0"/>
            <a:chExt cx="926592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45920" y="7424928"/>
            <a:ext cx="7040880" cy="512064"/>
            <a:chOff x="0" y="0"/>
            <a:chExt cx="9387840" cy="682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387840" cy="682752"/>
            </a:xfrm>
            <a:custGeom>
              <a:avLst/>
              <a:gdLst/>
              <a:ahLst/>
              <a:cxnLst/>
              <a:rect r="r" b="b" t="t" l="l"/>
              <a:pathLst>
                <a:path h="68275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93878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Ordinal Encoding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45920" y="7973568"/>
            <a:ext cx="7040880" cy="1499616"/>
            <a:chOff x="0" y="0"/>
            <a:chExt cx="9387840" cy="19994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3878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484" r="0" b="-4148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9387840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7A94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dial_maturation_status: mature=0, N/A_graft=1, maturing=2, failing=3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7A94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dial_surgeon_volume: high=0, medium=1, low=2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387335" y="1669799"/>
            <a:ext cx="8437883" cy="2512571"/>
            <a:chOff x="0" y="0"/>
            <a:chExt cx="11250511" cy="335009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1216640" cy="3316224"/>
            </a:xfrm>
            <a:custGeom>
              <a:avLst/>
              <a:gdLst/>
              <a:ahLst/>
              <a:cxnLst/>
              <a:rect r="r" b="b" t="t" l="l"/>
              <a:pathLst>
                <a:path h="3316224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316224"/>
                  </a:lnTo>
                  <a:lnTo>
                    <a:pt x="0" y="33162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250422" cy="3350006"/>
            </a:xfrm>
            <a:custGeom>
              <a:avLst/>
              <a:gdLst/>
              <a:ahLst/>
              <a:cxnLst/>
              <a:rect r="r" b="b" t="t" l="l"/>
              <a:pathLst>
                <a:path h="335000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333115"/>
                  </a:lnTo>
                  <a:cubicBezTo>
                    <a:pt x="11250422" y="3342513"/>
                    <a:pt x="11242802" y="3350006"/>
                    <a:pt x="11233531" y="3350006"/>
                  </a:cubicBezTo>
                  <a:lnTo>
                    <a:pt x="16891" y="3350006"/>
                  </a:lnTo>
                  <a:cubicBezTo>
                    <a:pt x="7493" y="3350006"/>
                    <a:pt x="0" y="3342386"/>
                    <a:pt x="0" y="33331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33115"/>
                  </a:lnTo>
                  <a:lnTo>
                    <a:pt x="16891" y="3333115"/>
                  </a:lnTo>
                  <a:lnTo>
                    <a:pt x="16891" y="3316224"/>
                  </a:lnTo>
                  <a:lnTo>
                    <a:pt x="11233531" y="3316224"/>
                  </a:lnTo>
                  <a:lnTo>
                    <a:pt x="11233531" y="3333115"/>
                  </a:lnTo>
                  <a:lnTo>
                    <a:pt x="11216640" y="3333115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606791" y="1889255"/>
            <a:ext cx="720347" cy="720347"/>
            <a:chOff x="0" y="0"/>
            <a:chExt cx="960463" cy="96046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619488" y="1901952"/>
            <a:ext cx="694944" cy="694944"/>
            <a:chOff x="0" y="0"/>
            <a:chExt cx="926592" cy="9265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533888" y="1865376"/>
            <a:ext cx="7040880" cy="512064"/>
            <a:chOff x="0" y="0"/>
            <a:chExt cx="938784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387840" cy="682752"/>
            </a:xfrm>
            <a:custGeom>
              <a:avLst/>
              <a:gdLst/>
              <a:ahLst/>
              <a:cxnLst/>
              <a:rect r="r" b="b" t="t" l="l"/>
              <a:pathLst>
                <a:path h="68275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93878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One-Hot Encoding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533888" y="2414016"/>
            <a:ext cx="7040880" cy="1499616"/>
            <a:chOff x="0" y="0"/>
            <a:chExt cx="9387840" cy="19994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3878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484" r="0" b="-4148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387840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7A94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dial_access_type, dial_access_location, sex, smoking_status (46 total features post-encoding)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387335" y="4449575"/>
            <a:ext cx="8437883" cy="2512571"/>
            <a:chOff x="0" y="0"/>
            <a:chExt cx="11250511" cy="335009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1216640" cy="3316224"/>
            </a:xfrm>
            <a:custGeom>
              <a:avLst/>
              <a:gdLst/>
              <a:ahLst/>
              <a:cxnLst/>
              <a:rect r="r" b="b" t="t" l="l"/>
              <a:pathLst>
                <a:path h="3316224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316224"/>
                  </a:lnTo>
                  <a:lnTo>
                    <a:pt x="0" y="33162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250422" cy="3350006"/>
            </a:xfrm>
            <a:custGeom>
              <a:avLst/>
              <a:gdLst/>
              <a:ahLst/>
              <a:cxnLst/>
              <a:rect r="r" b="b" t="t" l="l"/>
              <a:pathLst>
                <a:path h="335000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333115"/>
                  </a:lnTo>
                  <a:cubicBezTo>
                    <a:pt x="11250422" y="3342513"/>
                    <a:pt x="11242802" y="3350006"/>
                    <a:pt x="11233531" y="3350006"/>
                  </a:cubicBezTo>
                  <a:lnTo>
                    <a:pt x="16891" y="3350006"/>
                  </a:lnTo>
                  <a:cubicBezTo>
                    <a:pt x="7493" y="3350006"/>
                    <a:pt x="0" y="3342386"/>
                    <a:pt x="0" y="33331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33115"/>
                  </a:lnTo>
                  <a:lnTo>
                    <a:pt x="16891" y="3333115"/>
                  </a:lnTo>
                  <a:lnTo>
                    <a:pt x="16891" y="3316224"/>
                  </a:lnTo>
                  <a:lnTo>
                    <a:pt x="11233531" y="3316224"/>
                  </a:lnTo>
                  <a:lnTo>
                    <a:pt x="11233531" y="3333115"/>
                  </a:lnTo>
                  <a:lnTo>
                    <a:pt x="11216640" y="3333115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606791" y="4669031"/>
            <a:ext cx="720347" cy="720347"/>
            <a:chOff x="0" y="0"/>
            <a:chExt cx="960463" cy="96046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619488" y="4681728"/>
            <a:ext cx="694944" cy="694944"/>
            <a:chOff x="0" y="0"/>
            <a:chExt cx="926592" cy="9265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533888" y="4645152"/>
            <a:ext cx="7040880" cy="512064"/>
            <a:chOff x="0" y="0"/>
            <a:chExt cx="9387840" cy="6827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387840" cy="682752"/>
            </a:xfrm>
            <a:custGeom>
              <a:avLst/>
              <a:gdLst/>
              <a:ahLst/>
              <a:cxnLst/>
              <a:rect r="r" b="b" t="t" l="l"/>
              <a:pathLst>
                <a:path h="68275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93878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Engineered Features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533888" y="5193792"/>
            <a:ext cx="7040880" cy="1499616"/>
            <a:chOff x="0" y="0"/>
            <a:chExt cx="9387840" cy="199948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3878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484" r="0" b="-41484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9387840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7A94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low_flow_flag: blood_flow &lt; 300 mL/min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7A94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high_vp_flag: venous_pressure &gt; 200 mmHg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387335" y="7229351"/>
            <a:ext cx="8437883" cy="2512571"/>
            <a:chOff x="0" y="0"/>
            <a:chExt cx="11250511" cy="335009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1216640" cy="3316224"/>
            </a:xfrm>
            <a:custGeom>
              <a:avLst/>
              <a:gdLst/>
              <a:ahLst/>
              <a:cxnLst/>
              <a:rect r="r" b="b" t="t" l="l"/>
              <a:pathLst>
                <a:path h="3316224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3316224"/>
                  </a:lnTo>
                  <a:lnTo>
                    <a:pt x="0" y="33162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250422" cy="3350006"/>
            </a:xfrm>
            <a:custGeom>
              <a:avLst/>
              <a:gdLst/>
              <a:ahLst/>
              <a:cxnLst/>
              <a:rect r="r" b="b" t="t" l="l"/>
              <a:pathLst>
                <a:path h="335000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3333115"/>
                  </a:lnTo>
                  <a:cubicBezTo>
                    <a:pt x="11250422" y="3342513"/>
                    <a:pt x="11242802" y="3350006"/>
                    <a:pt x="11233531" y="3350006"/>
                  </a:cubicBezTo>
                  <a:lnTo>
                    <a:pt x="16891" y="3350006"/>
                  </a:lnTo>
                  <a:cubicBezTo>
                    <a:pt x="7493" y="3350006"/>
                    <a:pt x="0" y="3342386"/>
                    <a:pt x="0" y="33331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33115"/>
                  </a:lnTo>
                  <a:lnTo>
                    <a:pt x="16891" y="3333115"/>
                  </a:lnTo>
                  <a:lnTo>
                    <a:pt x="16891" y="3316224"/>
                  </a:lnTo>
                  <a:lnTo>
                    <a:pt x="11233531" y="3316224"/>
                  </a:lnTo>
                  <a:lnTo>
                    <a:pt x="11233531" y="3333115"/>
                  </a:lnTo>
                  <a:lnTo>
                    <a:pt x="11216640" y="3333115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606791" y="7448807"/>
            <a:ext cx="720347" cy="720347"/>
            <a:chOff x="0" y="0"/>
            <a:chExt cx="960463" cy="96046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518"/>
                    <a:pt x="926592" y="463296"/>
                  </a:cubicBezTo>
                  <a:cubicBezTo>
                    <a:pt x="926592" y="719074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60501" cy="960374"/>
            </a:xfrm>
            <a:custGeom>
              <a:avLst/>
              <a:gdLst/>
              <a:ahLst/>
              <a:cxnLst/>
              <a:rect r="r" b="b" t="t" l="l"/>
              <a:pathLst>
                <a:path h="960374" w="960501">
                  <a:moveTo>
                    <a:pt x="0" y="480187"/>
                  </a:moveTo>
                  <a:cubicBezTo>
                    <a:pt x="0" y="215011"/>
                    <a:pt x="215011" y="0"/>
                    <a:pt x="480187" y="0"/>
                  </a:cubicBezTo>
                  <a:lnTo>
                    <a:pt x="480187" y="16891"/>
                  </a:lnTo>
                  <a:lnTo>
                    <a:pt x="480187" y="0"/>
                  </a:lnTo>
                  <a:cubicBezTo>
                    <a:pt x="745490" y="0"/>
                    <a:pt x="960501" y="215011"/>
                    <a:pt x="960501" y="480187"/>
                  </a:cubicBezTo>
                  <a:lnTo>
                    <a:pt x="943483" y="480187"/>
                  </a:lnTo>
                  <a:lnTo>
                    <a:pt x="960374" y="480187"/>
                  </a:lnTo>
                  <a:cubicBezTo>
                    <a:pt x="960374" y="745363"/>
                    <a:pt x="745363" y="960374"/>
                    <a:pt x="480187" y="960374"/>
                  </a:cubicBezTo>
                  <a:lnTo>
                    <a:pt x="480187" y="943483"/>
                  </a:lnTo>
                  <a:lnTo>
                    <a:pt x="480187" y="960374"/>
                  </a:lnTo>
                  <a:cubicBezTo>
                    <a:pt x="215011" y="960501"/>
                    <a:pt x="0" y="745490"/>
                    <a:pt x="0" y="480187"/>
                  </a:cubicBezTo>
                  <a:lnTo>
                    <a:pt x="16891" y="480187"/>
                  </a:lnTo>
                  <a:lnTo>
                    <a:pt x="33909" y="480187"/>
                  </a:lnTo>
                  <a:lnTo>
                    <a:pt x="16891" y="480187"/>
                  </a:lnTo>
                  <a:lnTo>
                    <a:pt x="0" y="480187"/>
                  </a:lnTo>
                  <a:moveTo>
                    <a:pt x="33909" y="480187"/>
                  </a:moveTo>
                  <a:cubicBezTo>
                    <a:pt x="33909" y="489585"/>
                    <a:pt x="26289" y="497078"/>
                    <a:pt x="17018" y="497078"/>
                  </a:cubicBezTo>
                  <a:cubicBezTo>
                    <a:pt x="7747" y="497078"/>
                    <a:pt x="0" y="489585"/>
                    <a:pt x="0" y="480187"/>
                  </a:cubicBezTo>
                  <a:cubicBezTo>
                    <a:pt x="0" y="470789"/>
                    <a:pt x="7620" y="463296"/>
                    <a:pt x="16891" y="463296"/>
                  </a:cubicBezTo>
                  <a:cubicBezTo>
                    <a:pt x="26162" y="463296"/>
                    <a:pt x="33782" y="470916"/>
                    <a:pt x="33782" y="480187"/>
                  </a:cubicBezTo>
                  <a:cubicBezTo>
                    <a:pt x="33782" y="726694"/>
                    <a:pt x="233680" y="926592"/>
                    <a:pt x="480187" y="926592"/>
                  </a:cubicBezTo>
                  <a:cubicBezTo>
                    <a:pt x="726694" y="926592"/>
                    <a:pt x="926592" y="726694"/>
                    <a:pt x="926592" y="480187"/>
                  </a:cubicBezTo>
                  <a:cubicBezTo>
                    <a:pt x="926592" y="233680"/>
                    <a:pt x="726694" y="33782"/>
                    <a:pt x="480187" y="33782"/>
                  </a:cubicBezTo>
                  <a:lnTo>
                    <a:pt x="480187" y="16891"/>
                  </a:lnTo>
                  <a:lnTo>
                    <a:pt x="480187" y="33909"/>
                  </a:lnTo>
                  <a:cubicBezTo>
                    <a:pt x="233680" y="33909"/>
                    <a:pt x="33909" y="233680"/>
                    <a:pt x="33909" y="480187"/>
                  </a:cubicBez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619488" y="7461504"/>
            <a:ext cx="694944" cy="694944"/>
            <a:chOff x="0" y="0"/>
            <a:chExt cx="926592" cy="9265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533888" y="7424928"/>
            <a:ext cx="7040880" cy="512064"/>
            <a:chOff x="0" y="0"/>
            <a:chExt cx="9387840" cy="68275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387840" cy="682752"/>
            </a:xfrm>
            <a:custGeom>
              <a:avLst/>
              <a:gdLst/>
              <a:ahLst/>
              <a:cxnLst/>
              <a:rect r="r" b="b" t="t" l="l"/>
              <a:pathLst>
                <a:path h="682752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938784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StandardScaler + SMOTE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0533888" y="7973568"/>
            <a:ext cx="7040880" cy="1499616"/>
            <a:chOff x="0" y="0"/>
            <a:chExt cx="9387840" cy="199948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387840" cy="1999488"/>
            </a:xfrm>
            <a:custGeom>
              <a:avLst/>
              <a:gdLst/>
              <a:ahLst/>
              <a:cxnLst/>
              <a:rect r="r" b="b" t="t" l="l"/>
              <a:pathLst>
                <a:path h="1999488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484" r="0" b="-41484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9387840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7A94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numeric features scaled. SMOTE applied to training set only (50/50 balance). Val/test untouched.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0080" y="146304"/>
            <a:ext cx="17007840" cy="512064"/>
            <a:chOff x="0" y="0"/>
            <a:chExt cx="22677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C8DC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3 — DIMENSIONALITY REDUCTION &amp; FEATURE SELECTION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658368"/>
            <a:ext cx="17007840" cy="512064"/>
            <a:chOff x="0" y="0"/>
            <a:chExt cx="22677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PCA Scree Analysis · RFE (Recursive Feature Elimination)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100919" y="1719077"/>
            <a:ext cx="6058774" cy="5120640"/>
            <a:chOff x="0" y="0"/>
            <a:chExt cx="8078365" cy="6827520"/>
          </a:xfrm>
        </p:grpSpPr>
        <p:sp>
          <p:nvSpPr>
            <p:cNvPr name="Freeform 12" id="12" descr="/sessions/keen-dreamy-ritchie/mnt/Doc Capstone Files/VascularGuard-ML/reports/figures/29_rfe_feature_selection.png"/>
            <p:cNvSpPr/>
            <p:nvPr/>
          </p:nvSpPr>
          <p:spPr>
            <a:xfrm flipH="false" flipV="false" rot="0">
              <a:off x="0" y="0"/>
              <a:ext cx="8078365" cy="6827520"/>
            </a:xfrm>
            <a:custGeom>
              <a:avLst/>
              <a:gdLst/>
              <a:ahLst/>
              <a:cxnLst/>
              <a:rect r="r" b="b" t="t" l="l"/>
              <a:pathLst>
                <a:path h="6827520" w="8078365">
                  <a:moveTo>
                    <a:pt x="0" y="0"/>
                  </a:moveTo>
                  <a:lnTo>
                    <a:pt x="8078365" y="0"/>
                  </a:lnTo>
                  <a:lnTo>
                    <a:pt x="8078365" y="6827520"/>
                  </a:lnTo>
                  <a:lnTo>
                    <a:pt x="0" y="6827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397" t="0" r="-333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57200" y="6620256"/>
            <a:ext cx="8412480" cy="512064"/>
            <a:chOff x="0" y="0"/>
            <a:chExt cx="11216640" cy="6827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216640" cy="682752"/>
            </a:xfrm>
            <a:custGeom>
              <a:avLst/>
              <a:gdLst/>
              <a:ahLst/>
              <a:cxnLst/>
              <a:rect r="r" b="b" t="t" l="l"/>
              <a:pathLst>
                <a:path h="68275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216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PCA — Scree Plot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26880" y="6620256"/>
            <a:ext cx="8412480" cy="512064"/>
            <a:chOff x="0" y="0"/>
            <a:chExt cx="11216640" cy="68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16640" cy="682752"/>
            </a:xfrm>
            <a:custGeom>
              <a:avLst/>
              <a:gdLst/>
              <a:ahLst/>
              <a:cxnLst/>
              <a:rect r="r" b="b" t="t" l="l"/>
              <a:pathLst>
                <a:path h="68275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12166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RFE — Feature Selection Curve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44503" y="7229351"/>
            <a:ext cx="17399003" cy="2622299"/>
            <a:chOff x="0" y="0"/>
            <a:chExt cx="23198671" cy="349639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23164799" cy="3462528"/>
            </a:xfrm>
            <a:custGeom>
              <a:avLst/>
              <a:gdLst/>
              <a:ahLst/>
              <a:cxnLst/>
              <a:rect r="r" b="b" t="t" l="l"/>
              <a:pathLst>
                <a:path h="3462528" w="23164799">
                  <a:moveTo>
                    <a:pt x="0" y="0"/>
                  </a:moveTo>
                  <a:lnTo>
                    <a:pt x="23164799" y="0"/>
                  </a:lnTo>
                  <a:lnTo>
                    <a:pt x="23164799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198582" cy="3496310"/>
            </a:xfrm>
            <a:custGeom>
              <a:avLst/>
              <a:gdLst/>
              <a:ahLst/>
              <a:cxnLst/>
              <a:rect r="r" b="b" t="t" l="l"/>
              <a:pathLst>
                <a:path h="3496310" w="23198582">
                  <a:moveTo>
                    <a:pt x="16891" y="0"/>
                  </a:moveTo>
                  <a:lnTo>
                    <a:pt x="23181690" y="0"/>
                  </a:lnTo>
                  <a:cubicBezTo>
                    <a:pt x="23191090" y="0"/>
                    <a:pt x="23198582" y="7620"/>
                    <a:pt x="23198582" y="16891"/>
                  </a:cubicBezTo>
                  <a:lnTo>
                    <a:pt x="23198582" y="3479419"/>
                  </a:lnTo>
                  <a:cubicBezTo>
                    <a:pt x="23198582" y="3488817"/>
                    <a:pt x="23190963" y="3496310"/>
                    <a:pt x="23181690" y="3496310"/>
                  </a:cubicBezTo>
                  <a:lnTo>
                    <a:pt x="16891" y="3496310"/>
                  </a:lnTo>
                  <a:cubicBezTo>
                    <a:pt x="7493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79419"/>
                  </a:lnTo>
                  <a:lnTo>
                    <a:pt x="16891" y="3479419"/>
                  </a:lnTo>
                  <a:lnTo>
                    <a:pt x="16891" y="3462528"/>
                  </a:lnTo>
                  <a:lnTo>
                    <a:pt x="23181690" y="3462528"/>
                  </a:lnTo>
                  <a:lnTo>
                    <a:pt x="23181690" y="3479419"/>
                  </a:lnTo>
                  <a:lnTo>
                    <a:pt x="23164800" y="3479419"/>
                  </a:lnTo>
                  <a:lnTo>
                    <a:pt x="23164800" y="16891"/>
                  </a:lnTo>
                  <a:lnTo>
                    <a:pt x="23181690" y="16891"/>
                  </a:lnTo>
                  <a:lnTo>
                    <a:pt x="231816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68096" y="7461504"/>
            <a:ext cx="16642080" cy="2157984"/>
            <a:chOff x="0" y="0"/>
            <a:chExt cx="22189440" cy="28773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189439" cy="2877312"/>
            </a:xfrm>
            <a:custGeom>
              <a:avLst/>
              <a:gdLst/>
              <a:ahLst/>
              <a:cxnLst/>
              <a:rect r="r" b="b" t="t" l="l"/>
              <a:pathLst>
                <a:path h="287731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2877312"/>
                  </a:lnTo>
                  <a:lnTo>
                    <a:pt x="0" y="2877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265" r="0" b="-10026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2189440" cy="2924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PCA: </a:t>
              </a:r>
              <a:r>
                <a:rPr lang="en-US" sz="2100">
                  <a:solidFill>
                    <a:srgbClr val="7A94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~15 PCs explain 80% of variance in v2. Haemodynamic features (blood flow, venous pressure, recirculation) dominate PC1.  </a:t>
              </a:r>
              <a:r>
                <a:rPr lang="en-US" sz="21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RFE: </a:t>
              </a:r>
              <a:r>
                <a:rPr lang="en-US" sz="2100">
                  <a:solidFill>
                    <a:srgbClr val="7A94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Optimal feature subset at ~18–22 features. Top RFE selections match SHAP global rankings — confirming feature robustness across two independent selection methods.</a:t>
              </a:r>
            </a:p>
          </p:txBody>
        </p:sp>
      </p:grpSp>
      <p:sp>
        <p:nvSpPr>
          <p:cNvPr name="Freeform 25" id="25" descr="/sessions/keen-dreamy-ritchie/mnt/Doc Capstone Files/VascularGuard-ML/reports/figures/27_pca_scree_plots.png"/>
          <p:cNvSpPr/>
          <p:nvPr/>
        </p:nvSpPr>
        <p:spPr>
          <a:xfrm flipH="false" flipV="false" rot="0">
            <a:off x="1171279" y="1494950"/>
            <a:ext cx="7440001" cy="5184836"/>
          </a:xfrm>
          <a:custGeom>
            <a:avLst/>
            <a:gdLst/>
            <a:ahLst/>
            <a:cxnLst/>
            <a:rect r="r" b="b" t="t" l="l"/>
            <a:pathLst>
              <a:path h="5184836" w="7440001">
                <a:moveTo>
                  <a:pt x="0" y="0"/>
                </a:moveTo>
                <a:lnTo>
                  <a:pt x="7440001" y="0"/>
                </a:lnTo>
                <a:lnTo>
                  <a:pt x="7440001" y="5184836"/>
                </a:lnTo>
                <a:lnTo>
                  <a:pt x="0" y="51848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8227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0080" y="146304"/>
            <a:ext cx="17007840" cy="512064"/>
            <a:chOff x="0" y="0"/>
            <a:chExt cx="22677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C8DC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4 — MODEL COMPARISON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658368"/>
            <a:ext cx="17007840" cy="512064"/>
            <a:chOff x="0" y="0"/>
            <a:chExt cx="22677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GridSearchCV · F2-scored · Threshold-Optimised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596647"/>
            <a:ext cx="17399003" cy="4816859"/>
            <a:chOff x="0" y="0"/>
            <a:chExt cx="23198671" cy="64224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3164799" cy="6388608"/>
            </a:xfrm>
            <a:custGeom>
              <a:avLst/>
              <a:gdLst/>
              <a:ahLst/>
              <a:cxnLst/>
              <a:rect r="r" b="b" t="t" l="l"/>
              <a:pathLst>
                <a:path h="6388608" w="23164799">
                  <a:moveTo>
                    <a:pt x="0" y="0"/>
                  </a:moveTo>
                  <a:lnTo>
                    <a:pt x="23164799" y="0"/>
                  </a:lnTo>
                  <a:lnTo>
                    <a:pt x="23164799" y="6388608"/>
                  </a:lnTo>
                  <a:lnTo>
                    <a:pt x="0" y="63886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198582" cy="6422390"/>
            </a:xfrm>
            <a:custGeom>
              <a:avLst/>
              <a:gdLst/>
              <a:ahLst/>
              <a:cxnLst/>
              <a:rect r="r" b="b" t="t" l="l"/>
              <a:pathLst>
                <a:path h="6422390" w="23198582">
                  <a:moveTo>
                    <a:pt x="16891" y="0"/>
                  </a:moveTo>
                  <a:lnTo>
                    <a:pt x="23181690" y="0"/>
                  </a:lnTo>
                  <a:cubicBezTo>
                    <a:pt x="23191090" y="0"/>
                    <a:pt x="23198582" y="7620"/>
                    <a:pt x="23198582" y="16891"/>
                  </a:cubicBezTo>
                  <a:lnTo>
                    <a:pt x="23198582" y="6405499"/>
                  </a:lnTo>
                  <a:cubicBezTo>
                    <a:pt x="23198582" y="6414897"/>
                    <a:pt x="23190963" y="6422390"/>
                    <a:pt x="23181690" y="6422390"/>
                  </a:cubicBezTo>
                  <a:lnTo>
                    <a:pt x="16891" y="6422390"/>
                  </a:lnTo>
                  <a:cubicBezTo>
                    <a:pt x="7493" y="6422390"/>
                    <a:pt x="0" y="6414770"/>
                    <a:pt x="0" y="6405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405499"/>
                  </a:lnTo>
                  <a:lnTo>
                    <a:pt x="16891" y="6405499"/>
                  </a:lnTo>
                  <a:lnTo>
                    <a:pt x="16891" y="6388608"/>
                  </a:lnTo>
                  <a:lnTo>
                    <a:pt x="23181690" y="6388608"/>
                  </a:lnTo>
                  <a:lnTo>
                    <a:pt x="23181690" y="6405499"/>
                  </a:lnTo>
                  <a:lnTo>
                    <a:pt x="23164800" y="6405499"/>
                  </a:lnTo>
                  <a:lnTo>
                    <a:pt x="23164800" y="16891"/>
                  </a:lnTo>
                  <a:lnTo>
                    <a:pt x="23181690" y="16891"/>
                  </a:lnTo>
                  <a:lnTo>
                    <a:pt x="231816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40080" y="1755648"/>
            <a:ext cx="17007840" cy="4498848"/>
            <a:chOff x="0" y="0"/>
            <a:chExt cx="22677120" cy="5998464"/>
          </a:xfrm>
        </p:grpSpPr>
        <p:sp>
          <p:nvSpPr>
            <p:cNvPr name="Freeform 15" id="15" descr="/sessions/keen-dreamy-ritchie/mnt/Doc Capstone Files/Dialysis_v2_Focus/figures/v2_16_model_f2_comparison.png"/>
            <p:cNvSpPr/>
            <p:nvPr/>
          </p:nvSpPr>
          <p:spPr>
            <a:xfrm flipH="false" flipV="false" rot="0">
              <a:off x="0" y="0"/>
              <a:ext cx="22677120" cy="5998464"/>
            </a:xfrm>
            <a:custGeom>
              <a:avLst/>
              <a:gdLst/>
              <a:ahLst/>
              <a:cxnLst/>
              <a:rect r="r" b="b" t="t" l="l"/>
              <a:pathLst>
                <a:path h="5998464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998464"/>
                  </a:lnTo>
                  <a:lnTo>
                    <a:pt x="0" y="5998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9977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48640" y="6620256"/>
            <a:ext cx="17190720" cy="475488"/>
            <a:chOff x="0" y="0"/>
            <a:chExt cx="22920960" cy="6339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920961" cy="633984"/>
            </a:xfrm>
            <a:custGeom>
              <a:avLst/>
              <a:gdLst/>
              <a:ahLst/>
              <a:cxnLst/>
              <a:rect r="r" b="b" t="t" l="l"/>
              <a:pathLst>
                <a:path h="633984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4459" r="0" b="-65445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292096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Set Results — All Models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548640" y="7205472"/>
          <a:ext cx="15824200" cy="2667000"/>
        </p:xfrm>
        <a:graphic>
          <a:graphicData uri="http://schemas.openxmlformats.org/drawingml/2006/table">
            <a:tbl>
              <a:tblPr/>
              <a:tblGrid>
                <a:gridCol w="3628256"/>
                <a:gridCol w="2367124"/>
                <a:gridCol w="2547286"/>
                <a:gridCol w="2186962"/>
                <a:gridCol w="2547286"/>
                <a:gridCol w="2547286"/>
              </a:tblGrid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Test F2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Precision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Recall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AUC-ROC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Threshold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A162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Logistic Reg.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0.7223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0.3926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0.9143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0.7638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0.38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Random Forest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0.7166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0.3657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0.9429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0.7514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KNN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0.7062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0.3899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0.8857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0.6865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SVM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0.6077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0.4670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0.6571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0.7027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20" id="20"/>
          <p:cNvGrpSpPr/>
          <p:nvPr/>
        </p:nvGrpSpPr>
        <p:grpSpPr>
          <a:xfrm rot="0">
            <a:off x="548640" y="9985248"/>
            <a:ext cx="17190720" cy="438912"/>
            <a:chOff x="0" y="0"/>
            <a:chExt cx="22920960" cy="5852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920961" cy="585216"/>
            </a:xfrm>
            <a:custGeom>
              <a:avLst/>
              <a:gdLst/>
              <a:ahLst/>
              <a:cxnLst/>
              <a:rect r="r" b="b" t="t" l="l"/>
              <a:pathLst>
                <a:path h="585216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3163" r="0" b="-71316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292096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7A94A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★ Logistic Regression selected — highest Test F2 (0.7223) with 91.4% recall. RF selected as secondary for 94.3% recall where zero misses is prioritised.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0080" y="146304"/>
            <a:ext cx="17007840" cy="512064"/>
            <a:chOff x="0" y="0"/>
            <a:chExt cx="22677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C8DC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4 — CONFUSION MATRIX DEEP DIVE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658368"/>
            <a:ext cx="17007840" cy="512064"/>
            <a:chOff x="0" y="0"/>
            <a:chExt cx="22677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 Set  |  LR (t=0.38) vs RF (t=0.20)  |  450 patients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596647"/>
            <a:ext cx="17399003" cy="5877563"/>
            <a:chOff x="0" y="0"/>
            <a:chExt cx="23198671" cy="78367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3164799" cy="7802881"/>
            </a:xfrm>
            <a:custGeom>
              <a:avLst/>
              <a:gdLst/>
              <a:ahLst/>
              <a:cxnLst/>
              <a:rect r="r" b="b" t="t" l="l"/>
              <a:pathLst>
                <a:path h="7802881" w="23164799">
                  <a:moveTo>
                    <a:pt x="0" y="0"/>
                  </a:moveTo>
                  <a:lnTo>
                    <a:pt x="23164799" y="0"/>
                  </a:lnTo>
                  <a:lnTo>
                    <a:pt x="23164799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198582" cy="7836662"/>
            </a:xfrm>
            <a:custGeom>
              <a:avLst/>
              <a:gdLst/>
              <a:ahLst/>
              <a:cxnLst/>
              <a:rect r="r" b="b" t="t" l="l"/>
              <a:pathLst>
                <a:path h="7836662" w="23198582">
                  <a:moveTo>
                    <a:pt x="16891" y="0"/>
                  </a:moveTo>
                  <a:lnTo>
                    <a:pt x="23181690" y="0"/>
                  </a:lnTo>
                  <a:cubicBezTo>
                    <a:pt x="23191090" y="0"/>
                    <a:pt x="23198582" y="7620"/>
                    <a:pt x="23198582" y="16891"/>
                  </a:cubicBezTo>
                  <a:lnTo>
                    <a:pt x="23198582" y="7819772"/>
                  </a:lnTo>
                  <a:cubicBezTo>
                    <a:pt x="23198582" y="7829169"/>
                    <a:pt x="23190963" y="7836662"/>
                    <a:pt x="23181690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23181690" y="7802880"/>
                  </a:lnTo>
                  <a:lnTo>
                    <a:pt x="23181690" y="7819772"/>
                  </a:lnTo>
                  <a:lnTo>
                    <a:pt x="23164800" y="7819772"/>
                  </a:lnTo>
                  <a:lnTo>
                    <a:pt x="23164800" y="16891"/>
                  </a:lnTo>
                  <a:lnTo>
                    <a:pt x="23181690" y="16891"/>
                  </a:lnTo>
                  <a:lnTo>
                    <a:pt x="231816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40080" y="1755648"/>
            <a:ext cx="17007840" cy="5559552"/>
            <a:chOff x="0" y="0"/>
            <a:chExt cx="22677120" cy="7412736"/>
          </a:xfrm>
        </p:grpSpPr>
        <p:sp>
          <p:nvSpPr>
            <p:cNvPr name="Freeform 15" id="15" descr="/sessions/keen-dreamy-ritchie/mnt/Doc Capstone Files/Dialysis_v2_Focus/figures/v2_17_confusion_matrices.png"/>
            <p:cNvSpPr/>
            <p:nvPr/>
          </p:nvSpPr>
          <p:spPr>
            <a:xfrm flipH="false" flipV="false" rot="0">
              <a:off x="0" y="0"/>
              <a:ext cx="22677120" cy="7412736"/>
            </a:xfrm>
            <a:custGeom>
              <a:avLst/>
              <a:gdLst/>
              <a:ahLst/>
              <a:cxnLst/>
              <a:rect r="r" b="b" t="t" l="l"/>
              <a:pathLst>
                <a:path h="7412736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7412736"/>
                  </a:lnTo>
                  <a:lnTo>
                    <a:pt x="0" y="7412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42917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44503" y="7704839"/>
            <a:ext cx="5840987" cy="2219963"/>
            <a:chOff x="0" y="0"/>
            <a:chExt cx="7787983" cy="29599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7754112" cy="2926080"/>
            </a:xfrm>
            <a:custGeom>
              <a:avLst/>
              <a:gdLst/>
              <a:ahLst/>
              <a:cxnLst/>
              <a:rect r="r" b="b" t="t" l="l"/>
              <a:pathLst>
                <a:path h="2926080" w="7754112">
                  <a:moveTo>
                    <a:pt x="0" y="0"/>
                  </a:moveTo>
                  <a:lnTo>
                    <a:pt x="7754112" y="0"/>
                  </a:lnTo>
                  <a:lnTo>
                    <a:pt x="7754112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787894" cy="2959862"/>
            </a:xfrm>
            <a:custGeom>
              <a:avLst/>
              <a:gdLst/>
              <a:ahLst/>
              <a:cxnLst/>
              <a:rect r="r" b="b" t="t" l="l"/>
              <a:pathLst>
                <a:path h="2959862" w="7787894">
                  <a:moveTo>
                    <a:pt x="16891" y="0"/>
                  </a:moveTo>
                  <a:lnTo>
                    <a:pt x="7771003" y="0"/>
                  </a:lnTo>
                  <a:cubicBezTo>
                    <a:pt x="7780401" y="0"/>
                    <a:pt x="7787894" y="7620"/>
                    <a:pt x="7787894" y="16891"/>
                  </a:cubicBezTo>
                  <a:lnTo>
                    <a:pt x="7787894" y="2942971"/>
                  </a:lnTo>
                  <a:cubicBezTo>
                    <a:pt x="7787894" y="2952369"/>
                    <a:pt x="7780274" y="2959862"/>
                    <a:pt x="7771003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771003" y="2926080"/>
                  </a:lnTo>
                  <a:lnTo>
                    <a:pt x="7771003" y="2942971"/>
                  </a:lnTo>
                  <a:lnTo>
                    <a:pt x="7754112" y="2942971"/>
                  </a:lnTo>
                  <a:lnTo>
                    <a:pt x="7754112" y="16891"/>
                  </a:lnTo>
                  <a:lnTo>
                    <a:pt x="7771003" y="16891"/>
                  </a:lnTo>
                  <a:lnTo>
                    <a:pt x="777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40080" y="7863840"/>
            <a:ext cx="5449824" cy="512064"/>
            <a:chOff x="0" y="0"/>
            <a:chExt cx="7266432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66432" cy="682752"/>
            </a:xfrm>
            <a:custGeom>
              <a:avLst/>
              <a:gdLst/>
              <a:ahLst/>
              <a:cxnLst/>
              <a:rect r="r" b="b" t="t" l="l"/>
              <a:pathLst>
                <a:path h="682752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376" r="0" b="-15737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2664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Logistic Regression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0080" y="8412480"/>
            <a:ext cx="5449824" cy="1353312"/>
            <a:chOff x="0" y="0"/>
            <a:chExt cx="7266432" cy="18044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266432" cy="1804416"/>
            </a:xfrm>
            <a:custGeom>
              <a:avLst/>
              <a:gdLst/>
              <a:ahLst/>
              <a:cxnLst/>
              <a:rect r="r" b="b" t="t" l="l"/>
              <a:pathLst>
                <a:path h="1804416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66" r="0" b="-2846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266432" cy="1842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F2=0.7223 | Recall=0.914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Missed failures: ~12 of 140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Precision: 39.3%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70983" y="7704839"/>
            <a:ext cx="5840987" cy="2219963"/>
            <a:chOff x="0" y="0"/>
            <a:chExt cx="7787983" cy="29599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7754112" cy="2926080"/>
            </a:xfrm>
            <a:custGeom>
              <a:avLst/>
              <a:gdLst/>
              <a:ahLst/>
              <a:cxnLst/>
              <a:rect r="r" b="b" t="t" l="l"/>
              <a:pathLst>
                <a:path h="2926080" w="7754112">
                  <a:moveTo>
                    <a:pt x="0" y="0"/>
                  </a:moveTo>
                  <a:lnTo>
                    <a:pt x="7754112" y="0"/>
                  </a:lnTo>
                  <a:lnTo>
                    <a:pt x="7754112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787894" cy="2959862"/>
            </a:xfrm>
            <a:custGeom>
              <a:avLst/>
              <a:gdLst/>
              <a:ahLst/>
              <a:cxnLst/>
              <a:rect r="r" b="b" t="t" l="l"/>
              <a:pathLst>
                <a:path h="2959862" w="7787894">
                  <a:moveTo>
                    <a:pt x="16891" y="0"/>
                  </a:moveTo>
                  <a:lnTo>
                    <a:pt x="7771003" y="0"/>
                  </a:lnTo>
                  <a:cubicBezTo>
                    <a:pt x="7780401" y="0"/>
                    <a:pt x="7787894" y="7620"/>
                    <a:pt x="7787894" y="16891"/>
                  </a:cubicBezTo>
                  <a:lnTo>
                    <a:pt x="7787894" y="2942971"/>
                  </a:lnTo>
                  <a:cubicBezTo>
                    <a:pt x="7787894" y="2952369"/>
                    <a:pt x="7780274" y="2959862"/>
                    <a:pt x="7771003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771003" y="2926080"/>
                  </a:lnTo>
                  <a:lnTo>
                    <a:pt x="7771003" y="2942971"/>
                  </a:lnTo>
                  <a:lnTo>
                    <a:pt x="7754112" y="2942971"/>
                  </a:lnTo>
                  <a:lnTo>
                    <a:pt x="7754112" y="16891"/>
                  </a:lnTo>
                  <a:lnTo>
                    <a:pt x="7771003" y="16891"/>
                  </a:lnTo>
                  <a:lnTo>
                    <a:pt x="777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766560" y="7863840"/>
            <a:ext cx="5449824" cy="512064"/>
            <a:chOff x="0" y="0"/>
            <a:chExt cx="7266432" cy="6827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266432" cy="682752"/>
            </a:xfrm>
            <a:custGeom>
              <a:avLst/>
              <a:gdLst/>
              <a:ahLst/>
              <a:cxnLst/>
              <a:rect r="r" b="b" t="t" l="l"/>
              <a:pathLst>
                <a:path h="682752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376" r="0" b="-15737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2664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 Forest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766560" y="8412480"/>
            <a:ext cx="5449824" cy="1353312"/>
            <a:chOff x="0" y="0"/>
            <a:chExt cx="7266432" cy="18044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66432" cy="1804416"/>
            </a:xfrm>
            <a:custGeom>
              <a:avLst/>
              <a:gdLst/>
              <a:ahLst/>
              <a:cxnLst/>
              <a:rect r="r" b="b" t="t" l="l"/>
              <a:pathLst>
                <a:path h="1804416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66" r="0" b="-2846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7266432" cy="1842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F2=0.7166 | Recall=0.943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Missed failures: ~8 of 140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Precision: 36.6%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697463" y="7704839"/>
            <a:ext cx="5840987" cy="2219963"/>
            <a:chOff x="0" y="0"/>
            <a:chExt cx="7787983" cy="295995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7754112" cy="2926080"/>
            </a:xfrm>
            <a:custGeom>
              <a:avLst/>
              <a:gdLst/>
              <a:ahLst/>
              <a:cxnLst/>
              <a:rect r="r" b="b" t="t" l="l"/>
              <a:pathLst>
                <a:path h="2926080" w="7754112">
                  <a:moveTo>
                    <a:pt x="0" y="0"/>
                  </a:moveTo>
                  <a:lnTo>
                    <a:pt x="7754112" y="0"/>
                  </a:lnTo>
                  <a:lnTo>
                    <a:pt x="7754112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787894" cy="2959862"/>
            </a:xfrm>
            <a:custGeom>
              <a:avLst/>
              <a:gdLst/>
              <a:ahLst/>
              <a:cxnLst/>
              <a:rect r="r" b="b" t="t" l="l"/>
              <a:pathLst>
                <a:path h="2959862" w="7787894">
                  <a:moveTo>
                    <a:pt x="16891" y="0"/>
                  </a:moveTo>
                  <a:lnTo>
                    <a:pt x="7771003" y="0"/>
                  </a:lnTo>
                  <a:cubicBezTo>
                    <a:pt x="7780401" y="0"/>
                    <a:pt x="7787894" y="7620"/>
                    <a:pt x="7787894" y="16891"/>
                  </a:cubicBezTo>
                  <a:lnTo>
                    <a:pt x="7787894" y="2942971"/>
                  </a:lnTo>
                  <a:cubicBezTo>
                    <a:pt x="7787894" y="2952369"/>
                    <a:pt x="7780274" y="2959862"/>
                    <a:pt x="7771003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7771003" y="2926080"/>
                  </a:lnTo>
                  <a:lnTo>
                    <a:pt x="7771003" y="2942971"/>
                  </a:lnTo>
                  <a:lnTo>
                    <a:pt x="7754112" y="2942971"/>
                  </a:lnTo>
                  <a:lnTo>
                    <a:pt x="7754112" y="16891"/>
                  </a:lnTo>
                  <a:lnTo>
                    <a:pt x="7771003" y="16891"/>
                  </a:lnTo>
                  <a:lnTo>
                    <a:pt x="77710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893040" y="7863840"/>
            <a:ext cx="5449824" cy="512064"/>
            <a:chOff x="0" y="0"/>
            <a:chExt cx="7266432" cy="6827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266432" cy="682752"/>
            </a:xfrm>
            <a:custGeom>
              <a:avLst/>
              <a:gdLst/>
              <a:ahLst/>
              <a:cxnLst/>
              <a:rect r="r" b="b" t="t" l="l"/>
              <a:pathLst>
                <a:path h="682752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376" r="0" b="-15737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2664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Clinical Trade-Off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893040" y="8412480"/>
            <a:ext cx="5449824" cy="1353312"/>
            <a:chOff x="0" y="0"/>
            <a:chExt cx="7266432" cy="18044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266432" cy="1804416"/>
            </a:xfrm>
            <a:custGeom>
              <a:avLst/>
              <a:gdLst/>
              <a:ahLst/>
              <a:cxnLst/>
              <a:rect r="r" b="b" t="t" l="l"/>
              <a:pathLst>
                <a:path h="1804416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66" r="0" b="-2846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266432" cy="1842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Higher recall → more false alarms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Adjust threshold per clinical context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 minimises missed failures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0080" y="146304"/>
            <a:ext cx="17007840" cy="512064"/>
            <a:chOff x="0" y="0"/>
            <a:chExt cx="22677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C8DC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5 — FEATURE IMPORTANCE &amp; PARTIAL DEPENDENCE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658368"/>
            <a:ext cx="17007840" cy="512064"/>
            <a:chOff x="0" y="0"/>
            <a:chExt cx="22677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MDI · sklearn PDP (new) · Clinical Threshold Validation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596647"/>
            <a:ext cx="8437883" cy="7157723"/>
            <a:chOff x="0" y="0"/>
            <a:chExt cx="11250511" cy="95436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216640" cy="9509760"/>
            </a:xfrm>
            <a:custGeom>
              <a:avLst/>
              <a:gdLst/>
              <a:ahLst/>
              <a:cxnLst/>
              <a:rect r="r" b="b" t="t" l="l"/>
              <a:pathLst>
                <a:path h="95097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50422" cy="9543542"/>
            </a:xfrm>
            <a:custGeom>
              <a:avLst/>
              <a:gdLst/>
              <a:ahLst/>
              <a:cxnLst/>
              <a:rect r="r" b="b" t="t" l="l"/>
              <a:pathLst>
                <a:path h="954354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9526651"/>
                  </a:lnTo>
                  <a:cubicBezTo>
                    <a:pt x="11250422" y="9536049"/>
                    <a:pt x="11242802" y="9543542"/>
                    <a:pt x="11233531" y="9543542"/>
                  </a:cubicBezTo>
                  <a:lnTo>
                    <a:pt x="16891" y="9543542"/>
                  </a:lnTo>
                  <a:cubicBezTo>
                    <a:pt x="7493" y="9543542"/>
                    <a:pt x="0" y="9535922"/>
                    <a:pt x="0" y="9526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526651"/>
                  </a:lnTo>
                  <a:lnTo>
                    <a:pt x="16891" y="9526651"/>
                  </a:lnTo>
                  <a:lnTo>
                    <a:pt x="16891" y="9509760"/>
                  </a:lnTo>
                  <a:lnTo>
                    <a:pt x="11233531" y="9509760"/>
                  </a:lnTo>
                  <a:lnTo>
                    <a:pt x="11233531" y="9526651"/>
                  </a:lnTo>
                  <a:lnTo>
                    <a:pt x="11216640" y="952665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40080" y="1719072"/>
            <a:ext cx="8046720" cy="512064"/>
            <a:chOff x="0" y="0"/>
            <a:chExt cx="1072896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289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RF Feature Importances (Top 15)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85216" y="2267712"/>
            <a:ext cx="8138160" cy="6181344"/>
            <a:chOff x="0" y="0"/>
            <a:chExt cx="10850880" cy="8241792"/>
          </a:xfrm>
        </p:grpSpPr>
        <p:sp>
          <p:nvSpPr>
            <p:cNvPr name="Freeform 18" id="18" descr="/sessions/keen-dreamy-ritchie/mnt/Doc Capstone Files/VascularGuard-ML/reports/figures/v2_18_dial_rf_feature_importance.png"/>
            <p:cNvSpPr/>
            <p:nvPr/>
          </p:nvSpPr>
          <p:spPr>
            <a:xfrm flipH="false" flipV="false" rot="0">
              <a:off x="0" y="0"/>
              <a:ext cx="10850880" cy="8241792"/>
            </a:xfrm>
            <a:custGeom>
              <a:avLst/>
              <a:gdLst/>
              <a:ahLst/>
              <a:cxnLst/>
              <a:rect r="r" b="b" t="t" l="l"/>
              <a:pathLst>
                <a:path h="824179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8241792"/>
                  </a:lnTo>
                  <a:lnTo>
                    <a:pt x="0" y="824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8028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314183" y="1596647"/>
            <a:ext cx="8437883" cy="7157723"/>
            <a:chOff x="0" y="0"/>
            <a:chExt cx="11250511" cy="95436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11216640" cy="9509760"/>
            </a:xfrm>
            <a:custGeom>
              <a:avLst/>
              <a:gdLst/>
              <a:ahLst/>
              <a:cxnLst/>
              <a:rect r="r" b="b" t="t" l="l"/>
              <a:pathLst>
                <a:path h="950976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509760"/>
                  </a:lnTo>
                  <a:lnTo>
                    <a:pt x="0" y="95097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250422" cy="9543542"/>
            </a:xfrm>
            <a:custGeom>
              <a:avLst/>
              <a:gdLst/>
              <a:ahLst/>
              <a:cxnLst/>
              <a:rect r="r" b="b" t="t" l="l"/>
              <a:pathLst>
                <a:path h="954354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9526651"/>
                  </a:lnTo>
                  <a:cubicBezTo>
                    <a:pt x="11250422" y="9536049"/>
                    <a:pt x="11242802" y="9543542"/>
                    <a:pt x="11233531" y="9543542"/>
                  </a:cubicBezTo>
                  <a:lnTo>
                    <a:pt x="16891" y="9543542"/>
                  </a:lnTo>
                  <a:cubicBezTo>
                    <a:pt x="7493" y="9543542"/>
                    <a:pt x="0" y="9535922"/>
                    <a:pt x="0" y="9526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526651"/>
                  </a:lnTo>
                  <a:lnTo>
                    <a:pt x="16891" y="9526651"/>
                  </a:lnTo>
                  <a:lnTo>
                    <a:pt x="16891" y="9509760"/>
                  </a:lnTo>
                  <a:lnTo>
                    <a:pt x="11233531" y="9509760"/>
                  </a:lnTo>
                  <a:lnTo>
                    <a:pt x="11233531" y="9526651"/>
                  </a:lnTo>
                  <a:lnTo>
                    <a:pt x="11216640" y="952665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509760" y="1719072"/>
            <a:ext cx="8046720" cy="512064"/>
            <a:chOff x="0" y="0"/>
            <a:chExt cx="10728960" cy="6827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28960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7289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Partial Dependence Plots — Top 4 Features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54896" y="2267712"/>
            <a:ext cx="8138160" cy="6181344"/>
            <a:chOff x="0" y="0"/>
            <a:chExt cx="10850880" cy="8241792"/>
          </a:xfrm>
        </p:grpSpPr>
        <p:sp>
          <p:nvSpPr>
            <p:cNvPr name="Freeform 26" id="26" descr="/sessions/keen-dreamy-ritchie/mnt/Doc Capstone Files/Dialysis_v2_Focus/figures/pdp_top4_features.png"/>
            <p:cNvSpPr/>
            <p:nvPr/>
          </p:nvSpPr>
          <p:spPr>
            <a:xfrm flipH="false" flipV="false" rot="0">
              <a:off x="0" y="0"/>
              <a:ext cx="10850880" cy="8241792"/>
            </a:xfrm>
            <a:custGeom>
              <a:avLst/>
              <a:gdLst/>
              <a:ahLst/>
              <a:cxnLst/>
              <a:rect r="r" b="b" t="t" l="l"/>
              <a:pathLst>
                <a:path h="824179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8241792"/>
                  </a:lnTo>
                  <a:lnTo>
                    <a:pt x="0" y="824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554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48640" y="8961120"/>
            <a:ext cx="17190720" cy="914400"/>
            <a:chOff x="0" y="0"/>
            <a:chExt cx="2292096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920961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318" r="0" b="-31631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292096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7A94A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PDP confirms clinically coherent dose-response curves — RF importances and PDP directional effects fully align with nephrology guidelines.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0080" y="146304"/>
            <a:ext cx="17007840" cy="512064"/>
            <a:chOff x="0" y="0"/>
            <a:chExt cx="22677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C8DC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5 — LOCAL EXPLANATIONS: LIME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658368"/>
            <a:ext cx="17007840" cy="512064"/>
            <a:chOff x="0" y="0"/>
            <a:chExt cx="22677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Instance-Level Attribution — High Risk vs Low Risk Patient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4503" y="1596647"/>
            <a:ext cx="8437883" cy="6609083"/>
            <a:chOff x="0" y="0"/>
            <a:chExt cx="11250511" cy="88121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216640" cy="8778240"/>
            </a:xfrm>
            <a:custGeom>
              <a:avLst/>
              <a:gdLst/>
              <a:ahLst/>
              <a:cxnLst/>
              <a:rect r="r" b="b" t="t" l="l"/>
              <a:pathLst>
                <a:path h="87782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8778240"/>
                  </a:lnTo>
                  <a:lnTo>
                    <a:pt x="0" y="8778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50422" cy="8812022"/>
            </a:xfrm>
            <a:custGeom>
              <a:avLst/>
              <a:gdLst/>
              <a:ahLst/>
              <a:cxnLst/>
              <a:rect r="r" b="b" t="t" l="l"/>
              <a:pathLst>
                <a:path h="881202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8795131"/>
                  </a:lnTo>
                  <a:cubicBezTo>
                    <a:pt x="11250422" y="8804529"/>
                    <a:pt x="11242802" y="8812022"/>
                    <a:pt x="11233531" y="8812022"/>
                  </a:cubicBezTo>
                  <a:lnTo>
                    <a:pt x="16891" y="8812022"/>
                  </a:lnTo>
                  <a:cubicBezTo>
                    <a:pt x="7493" y="8812022"/>
                    <a:pt x="0" y="8804402"/>
                    <a:pt x="0" y="8795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95131"/>
                  </a:lnTo>
                  <a:lnTo>
                    <a:pt x="16891" y="8795131"/>
                  </a:lnTo>
                  <a:lnTo>
                    <a:pt x="16891" y="8778240"/>
                  </a:lnTo>
                  <a:lnTo>
                    <a:pt x="11233531" y="8778240"/>
                  </a:lnTo>
                  <a:lnTo>
                    <a:pt x="11233531" y="8795131"/>
                  </a:lnTo>
                  <a:lnTo>
                    <a:pt x="11216640" y="879513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85216" y="1719072"/>
            <a:ext cx="8138160" cy="6327648"/>
            <a:chOff x="0" y="0"/>
            <a:chExt cx="10850880" cy="8436864"/>
          </a:xfrm>
        </p:grpSpPr>
        <p:sp>
          <p:nvSpPr>
            <p:cNvPr name="Freeform 15" id="15" descr="/sessions/keen-dreamy-ritchie/mnt/Doc Capstone Files/Dialysis_v2_Focus/figures/lime_high_risk_patient.png"/>
            <p:cNvSpPr/>
            <p:nvPr/>
          </p:nvSpPr>
          <p:spPr>
            <a:xfrm flipH="false" flipV="false" rot="0">
              <a:off x="0" y="0"/>
              <a:ext cx="10850880" cy="8436864"/>
            </a:xfrm>
            <a:custGeom>
              <a:avLst/>
              <a:gdLst/>
              <a:ahLst/>
              <a:cxnLst/>
              <a:rect r="r" b="b" t="t" l="l"/>
              <a:pathLst>
                <a:path h="8436864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8436864"/>
                  </a:lnTo>
                  <a:lnTo>
                    <a:pt x="0" y="8436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8972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314183" y="1596647"/>
            <a:ext cx="8437883" cy="6609083"/>
            <a:chOff x="0" y="0"/>
            <a:chExt cx="11250511" cy="88121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11216640" cy="8778240"/>
            </a:xfrm>
            <a:custGeom>
              <a:avLst/>
              <a:gdLst/>
              <a:ahLst/>
              <a:cxnLst/>
              <a:rect r="r" b="b" t="t" l="l"/>
              <a:pathLst>
                <a:path h="877824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8778240"/>
                  </a:lnTo>
                  <a:lnTo>
                    <a:pt x="0" y="8778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250422" cy="8812022"/>
            </a:xfrm>
            <a:custGeom>
              <a:avLst/>
              <a:gdLst/>
              <a:ahLst/>
              <a:cxnLst/>
              <a:rect r="r" b="b" t="t" l="l"/>
              <a:pathLst>
                <a:path h="8812022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8795131"/>
                  </a:lnTo>
                  <a:cubicBezTo>
                    <a:pt x="11250422" y="8804529"/>
                    <a:pt x="11242802" y="8812022"/>
                    <a:pt x="11233531" y="8812022"/>
                  </a:cubicBezTo>
                  <a:lnTo>
                    <a:pt x="16891" y="8812022"/>
                  </a:lnTo>
                  <a:cubicBezTo>
                    <a:pt x="7493" y="8812022"/>
                    <a:pt x="0" y="8804402"/>
                    <a:pt x="0" y="8795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95131"/>
                  </a:lnTo>
                  <a:lnTo>
                    <a:pt x="16891" y="8795131"/>
                  </a:lnTo>
                  <a:lnTo>
                    <a:pt x="16891" y="8778240"/>
                  </a:lnTo>
                  <a:lnTo>
                    <a:pt x="11233531" y="8778240"/>
                  </a:lnTo>
                  <a:lnTo>
                    <a:pt x="11233531" y="8795131"/>
                  </a:lnTo>
                  <a:lnTo>
                    <a:pt x="11216640" y="8795131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454896" y="1719072"/>
            <a:ext cx="8138160" cy="6327648"/>
            <a:chOff x="0" y="0"/>
            <a:chExt cx="10850880" cy="8436864"/>
          </a:xfrm>
        </p:grpSpPr>
        <p:sp>
          <p:nvSpPr>
            <p:cNvPr name="Freeform 20" id="20" descr="/sessions/keen-dreamy-ritchie/mnt/Doc Capstone Files/Dialysis_v2_Focus/figures/lime_low_risk_patient.png"/>
            <p:cNvSpPr/>
            <p:nvPr/>
          </p:nvSpPr>
          <p:spPr>
            <a:xfrm flipH="false" flipV="false" rot="0">
              <a:off x="0" y="0"/>
              <a:ext cx="10850880" cy="8436864"/>
            </a:xfrm>
            <a:custGeom>
              <a:avLst/>
              <a:gdLst/>
              <a:ahLst/>
              <a:cxnLst/>
              <a:rect r="r" b="b" t="t" l="l"/>
              <a:pathLst>
                <a:path h="8436864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8436864"/>
                  </a:lnTo>
                  <a:lnTo>
                    <a:pt x="0" y="8436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906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44503" y="8399783"/>
            <a:ext cx="17399003" cy="1525019"/>
            <a:chOff x="0" y="0"/>
            <a:chExt cx="23198671" cy="20333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23164799" cy="1999488"/>
            </a:xfrm>
            <a:custGeom>
              <a:avLst/>
              <a:gdLst/>
              <a:ahLst/>
              <a:cxnLst/>
              <a:rect r="r" b="b" t="t" l="l"/>
              <a:pathLst>
                <a:path h="1999488" w="23164799">
                  <a:moveTo>
                    <a:pt x="0" y="0"/>
                  </a:moveTo>
                  <a:lnTo>
                    <a:pt x="23164799" y="0"/>
                  </a:lnTo>
                  <a:lnTo>
                    <a:pt x="23164799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198582" cy="2033270"/>
            </a:xfrm>
            <a:custGeom>
              <a:avLst/>
              <a:gdLst/>
              <a:ahLst/>
              <a:cxnLst/>
              <a:rect r="r" b="b" t="t" l="l"/>
              <a:pathLst>
                <a:path h="2033270" w="23198582">
                  <a:moveTo>
                    <a:pt x="16891" y="0"/>
                  </a:moveTo>
                  <a:lnTo>
                    <a:pt x="23181690" y="0"/>
                  </a:lnTo>
                  <a:cubicBezTo>
                    <a:pt x="23191090" y="0"/>
                    <a:pt x="23198582" y="7620"/>
                    <a:pt x="23198582" y="16891"/>
                  </a:cubicBezTo>
                  <a:lnTo>
                    <a:pt x="23198582" y="2016379"/>
                  </a:lnTo>
                  <a:cubicBezTo>
                    <a:pt x="23198582" y="2025777"/>
                    <a:pt x="23190963" y="2033270"/>
                    <a:pt x="23181690" y="2033270"/>
                  </a:cubicBezTo>
                  <a:lnTo>
                    <a:pt x="16891" y="2033270"/>
                  </a:lnTo>
                  <a:cubicBezTo>
                    <a:pt x="7493" y="2033270"/>
                    <a:pt x="0" y="2025650"/>
                    <a:pt x="0" y="20163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16379"/>
                  </a:lnTo>
                  <a:lnTo>
                    <a:pt x="16891" y="2016379"/>
                  </a:lnTo>
                  <a:lnTo>
                    <a:pt x="16891" y="1999488"/>
                  </a:lnTo>
                  <a:lnTo>
                    <a:pt x="23181690" y="1999488"/>
                  </a:lnTo>
                  <a:lnTo>
                    <a:pt x="23181690" y="2016379"/>
                  </a:lnTo>
                  <a:lnTo>
                    <a:pt x="23164800" y="2016379"/>
                  </a:lnTo>
                  <a:lnTo>
                    <a:pt x="23164800" y="16891"/>
                  </a:lnTo>
                  <a:lnTo>
                    <a:pt x="23181690" y="16891"/>
                  </a:lnTo>
                  <a:lnTo>
                    <a:pt x="231816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8558784"/>
            <a:ext cx="16642080" cy="1207008"/>
            <a:chOff x="0" y="0"/>
            <a:chExt cx="22189440" cy="16093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189439" cy="1609344"/>
            </a:xfrm>
            <a:custGeom>
              <a:avLst/>
              <a:gdLst/>
              <a:ahLst/>
              <a:cxnLst/>
              <a:rect r="r" b="b" t="t" l="l"/>
              <a:pathLst>
                <a:path h="1609344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657" r="0" b="-21865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2189440" cy="1656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LIME </a:t>
              </a:r>
              <a:r>
                <a:rPr lang="en-US" sz="2100">
                  <a:solidFill>
                    <a:srgbClr val="C8DC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fits a local linear model around each patient's prediction. Orange bars = features raising failure risk. Blue bars = protective factors. </a:t>
              </a: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Directly readable by clinicians — no ML expertise required.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162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0080" y="146304"/>
            <a:ext cx="17007840" cy="512064"/>
            <a:chOff x="0" y="0"/>
            <a:chExt cx="2267712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C8DC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5 — BIAS &amp; FAIRNESS AUDIT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658368"/>
            <a:ext cx="17007840" cy="512064"/>
            <a:chOff x="0" y="0"/>
            <a:chExt cx="2267712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7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181" r="0" b="-59718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6771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Subgroup Analysis · Demographic Parity · Equalised Odds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94365" y="1657860"/>
            <a:ext cx="10632443" cy="5420363"/>
            <a:chOff x="0" y="0"/>
            <a:chExt cx="14176591" cy="7227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4142719" cy="7193281"/>
            </a:xfrm>
            <a:custGeom>
              <a:avLst/>
              <a:gdLst/>
              <a:ahLst/>
              <a:cxnLst/>
              <a:rect r="r" b="b" t="t" l="l"/>
              <a:pathLst>
                <a:path h="7193281" w="14142719">
                  <a:moveTo>
                    <a:pt x="0" y="0"/>
                  </a:moveTo>
                  <a:lnTo>
                    <a:pt x="14142719" y="0"/>
                  </a:lnTo>
                  <a:lnTo>
                    <a:pt x="14142719" y="7193281"/>
                  </a:lnTo>
                  <a:lnTo>
                    <a:pt x="0" y="71932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176502" cy="7227062"/>
            </a:xfrm>
            <a:custGeom>
              <a:avLst/>
              <a:gdLst/>
              <a:ahLst/>
              <a:cxnLst/>
              <a:rect r="r" b="b" t="t" l="l"/>
              <a:pathLst>
                <a:path h="7227062" w="14176502">
                  <a:moveTo>
                    <a:pt x="16891" y="0"/>
                  </a:moveTo>
                  <a:lnTo>
                    <a:pt x="14159610" y="0"/>
                  </a:lnTo>
                  <a:cubicBezTo>
                    <a:pt x="14169008" y="0"/>
                    <a:pt x="14176502" y="7620"/>
                    <a:pt x="14176502" y="16891"/>
                  </a:cubicBezTo>
                  <a:lnTo>
                    <a:pt x="14176502" y="7210172"/>
                  </a:lnTo>
                  <a:cubicBezTo>
                    <a:pt x="14176502" y="7219569"/>
                    <a:pt x="14168882" y="7227062"/>
                    <a:pt x="14159610" y="7227062"/>
                  </a:cubicBezTo>
                  <a:lnTo>
                    <a:pt x="16891" y="7227062"/>
                  </a:lnTo>
                  <a:cubicBezTo>
                    <a:pt x="7493" y="7227062"/>
                    <a:pt x="0" y="7219442"/>
                    <a:pt x="0" y="72101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210172"/>
                  </a:lnTo>
                  <a:lnTo>
                    <a:pt x="16891" y="7210172"/>
                  </a:lnTo>
                  <a:lnTo>
                    <a:pt x="16891" y="7193280"/>
                  </a:lnTo>
                  <a:lnTo>
                    <a:pt x="14159610" y="7193280"/>
                  </a:lnTo>
                  <a:lnTo>
                    <a:pt x="14159610" y="7210172"/>
                  </a:lnTo>
                  <a:lnTo>
                    <a:pt x="14142720" y="7210172"/>
                  </a:lnTo>
                  <a:lnTo>
                    <a:pt x="14142720" y="16891"/>
                  </a:lnTo>
                  <a:lnTo>
                    <a:pt x="14159610" y="16891"/>
                  </a:lnTo>
                  <a:lnTo>
                    <a:pt x="141596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40080" y="2632560"/>
            <a:ext cx="10332720" cy="2799889"/>
            <a:chOff x="0" y="0"/>
            <a:chExt cx="13776960" cy="3733185"/>
          </a:xfrm>
        </p:grpSpPr>
        <p:sp>
          <p:nvSpPr>
            <p:cNvPr name="Freeform 15" id="15" descr="/sessions/keen-dreamy-ritchie/mnt/Doc Capstone Files/VascularGuard-ML/reports/figures/30_bias_subgroup_f2.png"/>
            <p:cNvSpPr/>
            <p:nvPr/>
          </p:nvSpPr>
          <p:spPr>
            <a:xfrm flipH="false" flipV="false" rot="0">
              <a:off x="0" y="0"/>
              <a:ext cx="13776961" cy="3733185"/>
            </a:xfrm>
            <a:custGeom>
              <a:avLst/>
              <a:gdLst/>
              <a:ahLst/>
              <a:cxnLst/>
              <a:rect r="r" b="b" t="t" l="l"/>
              <a:pathLst>
                <a:path h="3733185" w="13776961">
                  <a:moveTo>
                    <a:pt x="0" y="0"/>
                  </a:moveTo>
                  <a:lnTo>
                    <a:pt x="13776961" y="0"/>
                  </a:lnTo>
                  <a:lnTo>
                    <a:pt x="13776961" y="3733185"/>
                  </a:lnTo>
                  <a:lnTo>
                    <a:pt x="0" y="3733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5265" r="0" b="-108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508743" y="1596647"/>
            <a:ext cx="6243323" cy="5420363"/>
            <a:chOff x="0" y="0"/>
            <a:chExt cx="8324431" cy="72271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8290560" cy="7193281"/>
            </a:xfrm>
            <a:custGeom>
              <a:avLst/>
              <a:gdLst/>
              <a:ahLst/>
              <a:cxnLst/>
              <a:rect r="r" b="b" t="t" l="l"/>
              <a:pathLst>
                <a:path h="7193281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7193281"/>
                  </a:lnTo>
                  <a:lnTo>
                    <a:pt x="0" y="71932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324342" cy="7227062"/>
            </a:xfrm>
            <a:custGeom>
              <a:avLst/>
              <a:gdLst/>
              <a:ahLst/>
              <a:cxnLst/>
              <a:rect r="r" b="b" t="t" l="l"/>
              <a:pathLst>
                <a:path h="7227062" w="8324342">
                  <a:moveTo>
                    <a:pt x="16891" y="0"/>
                  </a:moveTo>
                  <a:lnTo>
                    <a:pt x="8307451" y="0"/>
                  </a:lnTo>
                  <a:cubicBezTo>
                    <a:pt x="8316849" y="0"/>
                    <a:pt x="8324342" y="7620"/>
                    <a:pt x="8324342" y="16891"/>
                  </a:cubicBezTo>
                  <a:lnTo>
                    <a:pt x="8324342" y="7210172"/>
                  </a:lnTo>
                  <a:cubicBezTo>
                    <a:pt x="8324342" y="7219569"/>
                    <a:pt x="8316722" y="7227062"/>
                    <a:pt x="8307451" y="7227062"/>
                  </a:cubicBezTo>
                  <a:lnTo>
                    <a:pt x="16891" y="7227062"/>
                  </a:lnTo>
                  <a:cubicBezTo>
                    <a:pt x="7493" y="7227062"/>
                    <a:pt x="0" y="7219442"/>
                    <a:pt x="0" y="72101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210172"/>
                  </a:lnTo>
                  <a:lnTo>
                    <a:pt x="16891" y="7210172"/>
                  </a:lnTo>
                  <a:lnTo>
                    <a:pt x="16891" y="7193280"/>
                  </a:lnTo>
                  <a:lnTo>
                    <a:pt x="8307451" y="7193280"/>
                  </a:lnTo>
                  <a:lnTo>
                    <a:pt x="8307451" y="7210172"/>
                  </a:lnTo>
                  <a:lnTo>
                    <a:pt x="8290560" y="7210172"/>
                  </a:lnTo>
                  <a:lnTo>
                    <a:pt x="8290560" y="16891"/>
                  </a:lnTo>
                  <a:lnTo>
                    <a:pt x="8307451" y="16891"/>
                  </a:lnTo>
                  <a:lnTo>
                    <a:pt x="8307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740896" y="1792224"/>
            <a:ext cx="5779008" cy="475488"/>
            <a:chOff x="0" y="0"/>
            <a:chExt cx="7705344" cy="6339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05344" cy="633984"/>
            </a:xfrm>
            <a:custGeom>
              <a:avLst/>
              <a:gdLst/>
              <a:ahLst/>
              <a:cxnLst/>
              <a:rect r="r" b="b" t="t" l="l"/>
              <a:pathLst>
                <a:path h="633984" w="7705344">
                  <a:moveTo>
                    <a:pt x="0" y="0"/>
                  </a:moveTo>
                  <a:lnTo>
                    <a:pt x="7705344" y="0"/>
                  </a:lnTo>
                  <a:lnTo>
                    <a:pt x="7705344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818" r="0" b="-18681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705344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7A94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FAIRNESS METRICS</a:t>
              </a:r>
            </a:p>
          </p:txBody>
        </p:sp>
      </p:grp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11740896" y="2340864"/>
          <a:ext cx="5765800" cy="4165600"/>
        </p:xfrm>
        <a:graphic>
          <a:graphicData uri="http://schemas.openxmlformats.org/drawingml/2006/table">
            <a:tbl>
              <a:tblPr/>
              <a:tblGrid>
                <a:gridCol w="2456193"/>
                <a:gridCol w="2005974"/>
                <a:gridCol w="1303633"/>
              </a:tblGrid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Metric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Result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Pass?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Demographic</a:t>
                      </a:r>
                      <a:endParaRPr lang="en-US" sz="1100"/>
                    </a:p>
                    <a:p>
                      <a:pPr algn="l">
                        <a:lnSpc>
                          <a:spcPts val="2280"/>
                        </a:lnSpc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Parity</a:t>
                      </a:r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1.00–1.07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1A7A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Equalised</a:t>
                      </a:r>
                      <a:endParaRPr lang="en-US" sz="1100"/>
                    </a:p>
                    <a:p>
                      <a:pPr algn="l">
                        <a:lnSpc>
                          <a:spcPts val="2280"/>
                        </a:lnSpc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Odds</a:t>
                      </a:r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Recall gap</a:t>
                      </a:r>
                      <a:endParaRPr lang="en-US" sz="1100"/>
                    </a:p>
                    <a:p>
                      <a:pPr algn="l">
                        <a:lnSpc>
                          <a:spcPts val="2280"/>
                        </a:lnSpc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&lt; 0.05</a:t>
                      </a:r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1A7A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1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Disparate</a:t>
                      </a:r>
                      <a:endParaRPr lang="en-US" sz="1100"/>
                    </a:p>
                    <a:p>
                      <a:pPr algn="l">
                        <a:lnSpc>
                          <a:spcPts val="2280"/>
                        </a:lnSpc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Impact</a:t>
                      </a:r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&gt; 0.80</a:t>
                      </a:r>
                      <a:endParaRPr lang="en-US" sz="1100"/>
                    </a:p>
                    <a:p>
                      <a:pPr algn="l">
                        <a:lnSpc>
                          <a:spcPts val="2280"/>
                        </a:lnSpc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threshold</a:t>
                      </a:r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80"/>
                        </a:lnSpc>
                        <a:defRPr/>
                      </a:pPr>
                      <a:r>
                        <a:rPr lang="en-US" sz="1900" b="true">
                          <a:solidFill>
                            <a:srgbClr val="1A7A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23" id="23"/>
          <p:cNvGrpSpPr/>
          <p:nvPr/>
        </p:nvGrpSpPr>
        <p:grpSpPr>
          <a:xfrm rot="0">
            <a:off x="444503" y="7211063"/>
            <a:ext cx="17399003" cy="2732027"/>
            <a:chOff x="0" y="0"/>
            <a:chExt cx="23198671" cy="36427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23164799" cy="3608832"/>
            </a:xfrm>
            <a:custGeom>
              <a:avLst/>
              <a:gdLst/>
              <a:ahLst/>
              <a:cxnLst/>
              <a:rect r="r" b="b" t="t" l="l"/>
              <a:pathLst>
                <a:path h="3608832" w="23164799">
                  <a:moveTo>
                    <a:pt x="0" y="0"/>
                  </a:moveTo>
                  <a:lnTo>
                    <a:pt x="23164799" y="0"/>
                  </a:lnTo>
                  <a:lnTo>
                    <a:pt x="23164799" y="3608832"/>
                  </a:lnTo>
                  <a:lnTo>
                    <a:pt x="0" y="36088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198582" cy="3642614"/>
            </a:xfrm>
            <a:custGeom>
              <a:avLst/>
              <a:gdLst/>
              <a:ahLst/>
              <a:cxnLst/>
              <a:rect r="r" b="b" t="t" l="l"/>
              <a:pathLst>
                <a:path h="3642614" w="23198582">
                  <a:moveTo>
                    <a:pt x="16891" y="0"/>
                  </a:moveTo>
                  <a:lnTo>
                    <a:pt x="23181690" y="0"/>
                  </a:lnTo>
                  <a:cubicBezTo>
                    <a:pt x="23191090" y="0"/>
                    <a:pt x="23198582" y="7620"/>
                    <a:pt x="23198582" y="16891"/>
                  </a:cubicBezTo>
                  <a:lnTo>
                    <a:pt x="23198582" y="3625723"/>
                  </a:lnTo>
                  <a:cubicBezTo>
                    <a:pt x="23198582" y="3635121"/>
                    <a:pt x="23190963" y="3642614"/>
                    <a:pt x="23181690" y="3642614"/>
                  </a:cubicBezTo>
                  <a:lnTo>
                    <a:pt x="16891" y="3642614"/>
                  </a:lnTo>
                  <a:cubicBezTo>
                    <a:pt x="7493" y="3642614"/>
                    <a:pt x="0" y="3634994"/>
                    <a:pt x="0" y="36257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25723"/>
                  </a:lnTo>
                  <a:lnTo>
                    <a:pt x="16891" y="3625723"/>
                  </a:lnTo>
                  <a:lnTo>
                    <a:pt x="16891" y="3608832"/>
                  </a:lnTo>
                  <a:lnTo>
                    <a:pt x="23181690" y="3608832"/>
                  </a:lnTo>
                  <a:lnTo>
                    <a:pt x="23181690" y="3625723"/>
                  </a:lnTo>
                  <a:lnTo>
                    <a:pt x="23164800" y="3625723"/>
                  </a:lnTo>
                  <a:lnTo>
                    <a:pt x="23164800" y="16891"/>
                  </a:lnTo>
                  <a:lnTo>
                    <a:pt x="23181690" y="16891"/>
                  </a:lnTo>
                  <a:lnTo>
                    <a:pt x="231816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DE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68096" y="7406640"/>
            <a:ext cx="16459200" cy="475488"/>
            <a:chOff x="0" y="0"/>
            <a:chExt cx="21945600" cy="6339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00" cy="633984"/>
            </a:xfrm>
            <a:custGeom>
              <a:avLst/>
              <a:gdLst/>
              <a:ahLst/>
              <a:cxnLst/>
              <a:rect r="r" b="b" t="t" l="l"/>
              <a:pathLst>
                <a:path h="63398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482" r="0" b="-62448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1945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7A94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KNOWN LIMITATIONS &amp; MITIGATIONS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68096" y="7936992"/>
            <a:ext cx="16642080" cy="1828800"/>
            <a:chOff x="0" y="0"/>
            <a:chExt cx="22189440" cy="2438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8943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313" r="0" b="-12731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218944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Race/ethnicity absent from dataset  </a:t>
              </a:r>
              <a:r>
                <a:rPr lang="en-US" sz="2000">
                  <a:solidFill>
                    <a:srgbClr val="7A94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Cannot audit; collect in future data gathering  </a:t>
              </a:r>
              <a:r>
                <a:rPr lang="en-US" sz="20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Synthetic data  </a:t>
              </a:r>
              <a:r>
                <a:rPr lang="en-US" sz="2000">
                  <a:solidFill>
                    <a:srgbClr val="7A94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Real-world validation required before clinical deployment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A16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 Uniform threshold applied across subgroups  </a:t>
              </a:r>
              <a:r>
                <a:rPr lang="en-US" sz="2000">
                  <a:solidFill>
                    <a:srgbClr val="7A94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Group-specific thresholds can equalise recall gaps further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44226" y="2011538"/>
            <a:ext cx="10332720" cy="256174"/>
            <a:chOff x="0" y="0"/>
            <a:chExt cx="13776960" cy="341565"/>
          </a:xfrm>
        </p:grpSpPr>
        <p:sp>
          <p:nvSpPr>
            <p:cNvPr name="Freeform 33" id="33" descr="/sessions/keen-dreamy-ritchie/mnt/Doc Capstone Files/VascularGuard-ML/reports/figures/30_bias_subgroup_f2.png"/>
            <p:cNvSpPr/>
            <p:nvPr/>
          </p:nvSpPr>
          <p:spPr>
            <a:xfrm flipH="false" flipV="false" rot="0">
              <a:off x="0" y="0"/>
              <a:ext cx="13776961" cy="341565"/>
            </a:xfrm>
            <a:custGeom>
              <a:avLst/>
              <a:gdLst/>
              <a:ahLst/>
              <a:cxnLst/>
              <a:rect r="r" b="b" t="t" l="l"/>
              <a:pathLst>
                <a:path h="341565" w="13776961">
                  <a:moveTo>
                    <a:pt x="0" y="0"/>
                  </a:moveTo>
                  <a:lnTo>
                    <a:pt x="13776961" y="0"/>
                  </a:lnTo>
                  <a:lnTo>
                    <a:pt x="13776961" y="341565"/>
                  </a:lnTo>
                  <a:lnTo>
                    <a:pt x="0" y="341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155299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07B39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68096" y="585216"/>
            <a:ext cx="16824960" cy="658368"/>
            <a:chOff x="0" y="0"/>
            <a:chExt cx="22433280" cy="8778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877824"/>
            </a:xfrm>
            <a:custGeom>
              <a:avLst/>
              <a:gdLst/>
              <a:ahLst/>
              <a:cxnLst/>
              <a:rect r="r" b="b" t="t" l="l"/>
              <a:pathLst>
                <a:path h="877824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950" r="0" b="-4479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243328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600">
                  <a:solidFill>
                    <a:srgbClr val="C8DC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CONCLUSIONS &amp; NEXT STEPS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8096" y="1316736"/>
            <a:ext cx="16824960" cy="1133856"/>
            <a:chOff x="0" y="0"/>
            <a:chExt cx="22433280" cy="15118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33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132" r="0" b="-23913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2433280" cy="1635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VascularGuard ML — Dialysis v2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9046" y="2577846"/>
            <a:ext cx="16789908" cy="38100"/>
            <a:chOff x="0" y="0"/>
            <a:chExt cx="22386544" cy="50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0"/>
              <a:ext cx="22335744" cy="50800"/>
            </a:xfrm>
            <a:custGeom>
              <a:avLst/>
              <a:gdLst/>
              <a:ahLst/>
              <a:cxnLst/>
              <a:rect r="r" b="b" t="t" l="l"/>
              <a:pathLst>
                <a:path h="50800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18823" y="2949959"/>
            <a:ext cx="3902459" cy="2000507"/>
            <a:chOff x="0" y="0"/>
            <a:chExt cx="5203279" cy="26673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5169408" cy="2633472"/>
            </a:xfrm>
            <a:custGeom>
              <a:avLst/>
              <a:gdLst/>
              <a:ahLst/>
              <a:cxnLst/>
              <a:rect r="r" b="b" t="t" l="l"/>
              <a:pathLst>
                <a:path h="2633472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03190" cy="2667254"/>
            </a:xfrm>
            <a:custGeom>
              <a:avLst/>
              <a:gdLst/>
              <a:ahLst/>
              <a:cxnLst/>
              <a:rect r="r" b="b" t="t" l="l"/>
              <a:pathLst>
                <a:path h="2667254" w="5203190">
                  <a:moveTo>
                    <a:pt x="16891" y="0"/>
                  </a:moveTo>
                  <a:lnTo>
                    <a:pt x="5186299" y="0"/>
                  </a:lnTo>
                  <a:cubicBezTo>
                    <a:pt x="5195697" y="0"/>
                    <a:pt x="5203190" y="7620"/>
                    <a:pt x="5203190" y="16891"/>
                  </a:cubicBezTo>
                  <a:lnTo>
                    <a:pt x="5203190" y="2650363"/>
                  </a:lnTo>
                  <a:cubicBezTo>
                    <a:pt x="5203190" y="2659761"/>
                    <a:pt x="5195570" y="2667254"/>
                    <a:pt x="5186299" y="2667254"/>
                  </a:cubicBezTo>
                  <a:lnTo>
                    <a:pt x="16891" y="2667254"/>
                  </a:lnTo>
                  <a:cubicBezTo>
                    <a:pt x="7493" y="2667254"/>
                    <a:pt x="0" y="2659634"/>
                    <a:pt x="0" y="26503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50363"/>
                  </a:lnTo>
                  <a:lnTo>
                    <a:pt x="16891" y="2650363"/>
                  </a:lnTo>
                  <a:lnTo>
                    <a:pt x="16891" y="2633472"/>
                  </a:lnTo>
                  <a:lnTo>
                    <a:pt x="5186299" y="2633472"/>
                  </a:lnTo>
                  <a:lnTo>
                    <a:pt x="5186299" y="2650363"/>
                  </a:lnTo>
                  <a:lnTo>
                    <a:pt x="5169408" y="2650363"/>
                  </a:lnTo>
                  <a:lnTo>
                    <a:pt x="5169408" y="16891"/>
                  </a:lnTo>
                  <a:lnTo>
                    <a:pt x="5186299" y="16891"/>
                  </a:lnTo>
                  <a:lnTo>
                    <a:pt x="51862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31520" y="3072384"/>
            <a:ext cx="3877056" cy="950976"/>
            <a:chOff x="0" y="0"/>
            <a:chExt cx="5169408" cy="12679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6940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39" r="0" b="-2943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14300"/>
              <a:ext cx="5169408" cy="13822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0.7223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31520" y="3986784"/>
            <a:ext cx="3877056" cy="768096"/>
            <a:chOff x="0" y="0"/>
            <a:chExt cx="5169408" cy="10241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69408" cy="1024128"/>
            </a:xfrm>
            <a:custGeom>
              <a:avLst/>
              <a:gdLst/>
              <a:ahLst/>
              <a:cxnLst/>
              <a:rect r="r" b="b" t="t" l="l"/>
              <a:pathLst>
                <a:path h="1024128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53" r="0" b="-4835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169408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8DC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Best Test F2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8DC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(Logistic Reg.)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998215" y="2949959"/>
            <a:ext cx="3902459" cy="2000507"/>
            <a:chOff x="0" y="0"/>
            <a:chExt cx="5203279" cy="266734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5169408" cy="2633472"/>
            </a:xfrm>
            <a:custGeom>
              <a:avLst/>
              <a:gdLst/>
              <a:ahLst/>
              <a:cxnLst/>
              <a:rect r="r" b="b" t="t" l="l"/>
              <a:pathLst>
                <a:path h="2633472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03190" cy="2667254"/>
            </a:xfrm>
            <a:custGeom>
              <a:avLst/>
              <a:gdLst/>
              <a:ahLst/>
              <a:cxnLst/>
              <a:rect r="r" b="b" t="t" l="l"/>
              <a:pathLst>
                <a:path h="2667254" w="5203190">
                  <a:moveTo>
                    <a:pt x="16891" y="0"/>
                  </a:moveTo>
                  <a:lnTo>
                    <a:pt x="5186299" y="0"/>
                  </a:lnTo>
                  <a:cubicBezTo>
                    <a:pt x="5195697" y="0"/>
                    <a:pt x="5203190" y="7620"/>
                    <a:pt x="5203190" y="16891"/>
                  </a:cubicBezTo>
                  <a:lnTo>
                    <a:pt x="5203190" y="2650363"/>
                  </a:lnTo>
                  <a:cubicBezTo>
                    <a:pt x="5203190" y="2659761"/>
                    <a:pt x="5195570" y="2667254"/>
                    <a:pt x="5186299" y="2667254"/>
                  </a:cubicBezTo>
                  <a:lnTo>
                    <a:pt x="16891" y="2667254"/>
                  </a:lnTo>
                  <a:cubicBezTo>
                    <a:pt x="7493" y="2667254"/>
                    <a:pt x="0" y="2659634"/>
                    <a:pt x="0" y="26503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50363"/>
                  </a:lnTo>
                  <a:lnTo>
                    <a:pt x="16891" y="2650363"/>
                  </a:lnTo>
                  <a:lnTo>
                    <a:pt x="16891" y="2633472"/>
                  </a:lnTo>
                  <a:lnTo>
                    <a:pt x="5186299" y="2633472"/>
                  </a:lnTo>
                  <a:lnTo>
                    <a:pt x="5186299" y="2650363"/>
                  </a:lnTo>
                  <a:lnTo>
                    <a:pt x="5169408" y="2650363"/>
                  </a:lnTo>
                  <a:lnTo>
                    <a:pt x="5169408" y="16891"/>
                  </a:lnTo>
                  <a:lnTo>
                    <a:pt x="5186299" y="16891"/>
                  </a:lnTo>
                  <a:lnTo>
                    <a:pt x="51862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010912" y="3072384"/>
            <a:ext cx="3877056" cy="950976"/>
            <a:chOff x="0" y="0"/>
            <a:chExt cx="5169408" cy="12679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6940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39" r="0" b="-2943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14300"/>
              <a:ext cx="5169408" cy="13822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91.4%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010912" y="3986784"/>
            <a:ext cx="3877056" cy="768096"/>
            <a:chOff x="0" y="0"/>
            <a:chExt cx="5169408" cy="10241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69408" cy="1024128"/>
            </a:xfrm>
            <a:custGeom>
              <a:avLst/>
              <a:gdLst/>
              <a:ahLst/>
              <a:cxnLst/>
              <a:rect r="r" b="b" t="t" l="l"/>
              <a:pathLst>
                <a:path h="1024128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53" r="0" b="-4835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169408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8DC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Recall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8DC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(LR, t=0.38)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77607" y="2949959"/>
            <a:ext cx="3902459" cy="2000507"/>
            <a:chOff x="0" y="0"/>
            <a:chExt cx="5203279" cy="266734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5169408" cy="2633472"/>
            </a:xfrm>
            <a:custGeom>
              <a:avLst/>
              <a:gdLst/>
              <a:ahLst/>
              <a:cxnLst/>
              <a:rect r="r" b="b" t="t" l="l"/>
              <a:pathLst>
                <a:path h="2633472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03190" cy="2667254"/>
            </a:xfrm>
            <a:custGeom>
              <a:avLst/>
              <a:gdLst/>
              <a:ahLst/>
              <a:cxnLst/>
              <a:rect r="r" b="b" t="t" l="l"/>
              <a:pathLst>
                <a:path h="2667254" w="5203190">
                  <a:moveTo>
                    <a:pt x="16891" y="0"/>
                  </a:moveTo>
                  <a:lnTo>
                    <a:pt x="5186299" y="0"/>
                  </a:lnTo>
                  <a:cubicBezTo>
                    <a:pt x="5195697" y="0"/>
                    <a:pt x="5203190" y="7620"/>
                    <a:pt x="5203190" y="16891"/>
                  </a:cubicBezTo>
                  <a:lnTo>
                    <a:pt x="5203190" y="2650363"/>
                  </a:lnTo>
                  <a:cubicBezTo>
                    <a:pt x="5203190" y="2659761"/>
                    <a:pt x="5195570" y="2667254"/>
                    <a:pt x="5186299" y="2667254"/>
                  </a:cubicBezTo>
                  <a:lnTo>
                    <a:pt x="16891" y="2667254"/>
                  </a:lnTo>
                  <a:cubicBezTo>
                    <a:pt x="7493" y="2667254"/>
                    <a:pt x="0" y="2659634"/>
                    <a:pt x="0" y="26503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50363"/>
                  </a:lnTo>
                  <a:lnTo>
                    <a:pt x="16891" y="2650363"/>
                  </a:lnTo>
                  <a:lnTo>
                    <a:pt x="16891" y="2633472"/>
                  </a:lnTo>
                  <a:lnTo>
                    <a:pt x="5186299" y="2633472"/>
                  </a:lnTo>
                  <a:lnTo>
                    <a:pt x="5186299" y="2650363"/>
                  </a:lnTo>
                  <a:lnTo>
                    <a:pt x="5169408" y="2650363"/>
                  </a:lnTo>
                  <a:lnTo>
                    <a:pt x="5169408" y="16891"/>
                  </a:lnTo>
                  <a:lnTo>
                    <a:pt x="5186299" y="16891"/>
                  </a:lnTo>
                  <a:lnTo>
                    <a:pt x="51862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290304" y="3072384"/>
            <a:ext cx="3877056" cy="950976"/>
            <a:chOff x="0" y="0"/>
            <a:chExt cx="5169408" cy="12679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6940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39" r="0" b="-2943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14300"/>
              <a:ext cx="5169408" cy="13822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0.7638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290304" y="3986784"/>
            <a:ext cx="3877056" cy="768096"/>
            <a:chOff x="0" y="0"/>
            <a:chExt cx="5169408" cy="102412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69408" cy="1024128"/>
            </a:xfrm>
            <a:custGeom>
              <a:avLst/>
              <a:gdLst/>
              <a:ahLst/>
              <a:cxnLst/>
              <a:rect r="r" b="b" t="t" l="l"/>
              <a:pathLst>
                <a:path h="1024128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53" r="0" b="-4835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169408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8DC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AUC-ROC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8DC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(LR)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556999" y="2949959"/>
            <a:ext cx="3902459" cy="2000507"/>
            <a:chOff x="0" y="0"/>
            <a:chExt cx="5203279" cy="266734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5169408" cy="2633472"/>
            </a:xfrm>
            <a:custGeom>
              <a:avLst/>
              <a:gdLst/>
              <a:ahLst/>
              <a:cxnLst/>
              <a:rect r="r" b="b" t="t" l="l"/>
              <a:pathLst>
                <a:path h="2633472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203190" cy="2667254"/>
            </a:xfrm>
            <a:custGeom>
              <a:avLst/>
              <a:gdLst/>
              <a:ahLst/>
              <a:cxnLst/>
              <a:rect r="r" b="b" t="t" l="l"/>
              <a:pathLst>
                <a:path h="2667254" w="5203190">
                  <a:moveTo>
                    <a:pt x="16891" y="0"/>
                  </a:moveTo>
                  <a:lnTo>
                    <a:pt x="5186299" y="0"/>
                  </a:lnTo>
                  <a:cubicBezTo>
                    <a:pt x="5195697" y="0"/>
                    <a:pt x="5203190" y="7620"/>
                    <a:pt x="5203190" y="16891"/>
                  </a:cubicBezTo>
                  <a:lnTo>
                    <a:pt x="5203190" y="2650363"/>
                  </a:lnTo>
                  <a:cubicBezTo>
                    <a:pt x="5203190" y="2659761"/>
                    <a:pt x="5195570" y="2667254"/>
                    <a:pt x="5186299" y="2667254"/>
                  </a:cubicBezTo>
                  <a:lnTo>
                    <a:pt x="16891" y="2667254"/>
                  </a:lnTo>
                  <a:cubicBezTo>
                    <a:pt x="7493" y="2667254"/>
                    <a:pt x="0" y="2659634"/>
                    <a:pt x="0" y="26503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50363"/>
                  </a:lnTo>
                  <a:lnTo>
                    <a:pt x="16891" y="2650363"/>
                  </a:lnTo>
                  <a:lnTo>
                    <a:pt x="16891" y="2633472"/>
                  </a:lnTo>
                  <a:lnTo>
                    <a:pt x="5186299" y="2633472"/>
                  </a:lnTo>
                  <a:lnTo>
                    <a:pt x="5186299" y="2650363"/>
                  </a:lnTo>
                  <a:lnTo>
                    <a:pt x="5169408" y="2650363"/>
                  </a:lnTo>
                  <a:lnTo>
                    <a:pt x="5169408" y="16891"/>
                  </a:lnTo>
                  <a:lnTo>
                    <a:pt x="5186299" y="16891"/>
                  </a:lnTo>
                  <a:lnTo>
                    <a:pt x="51862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7B39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569696" y="3072384"/>
            <a:ext cx="3877056" cy="950976"/>
            <a:chOff x="0" y="0"/>
            <a:chExt cx="5169408" cy="126796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69408" cy="1267968"/>
            </a:xfrm>
            <a:custGeom>
              <a:avLst/>
              <a:gdLst/>
              <a:ahLst/>
              <a:cxnLst/>
              <a:rect r="r" b="b" t="t" l="l"/>
              <a:pathLst>
                <a:path h="1267968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39" r="0" b="-2943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14300"/>
              <a:ext cx="5169408" cy="13822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4×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569696" y="3986784"/>
            <a:ext cx="3877056" cy="768096"/>
            <a:chOff x="0" y="0"/>
            <a:chExt cx="5169408" cy="102412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69408" cy="1024128"/>
            </a:xfrm>
            <a:custGeom>
              <a:avLst/>
              <a:gdLst/>
              <a:ahLst/>
              <a:cxnLst/>
              <a:rect r="r" b="b" t="t" l="l"/>
              <a:pathLst>
                <a:path h="1024128" w="5169408">
                  <a:moveTo>
                    <a:pt x="0" y="0"/>
                  </a:moveTo>
                  <a:lnTo>
                    <a:pt x="5169408" y="0"/>
                  </a:lnTo>
                  <a:lnTo>
                    <a:pt x="516940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53" r="0" b="-4835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169408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8DC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More signal vs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8DC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v1 dataset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68096" y="5266944"/>
            <a:ext cx="16824960" cy="512064"/>
            <a:chOff x="0" y="0"/>
            <a:chExt cx="22433280" cy="6827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433280" cy="682752"/>
            </a:xfrm>
            <a:custGeom>
              <a:avLst/>
              <a:gdLst/>
              <a:ahLst/>
              <a:cxnLst/>
              <a:rect r="r" b="b" t="t" l="l"/>
              <a:pathLst>
                <a:path h="68275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22" r="0" b="-59022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433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C8DC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NEXT STEPS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68096" y="5888736"/>
            <a:ext cx="16642080" cy="3657600"/>
            <a:chOff x="0" y="0"/>
            <a:chExt cx="22189440" cy="4876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189439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656" r="0" b="-3865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23825"/>
              <a:ext cx="22189440" cy="5000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2"/>
                </a:lnSpc>
              </a:pPr>
              <a:r>
                <a:rPr lang="en-US" sz="2200">
                  <a:solidFill>
                    <a:srgbClr val="C8DC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 Add SHAP analysis specific to v2 (notebook 06b) — RF SHAP values will differ from original dataset</a:t>
              </a:r>
            </a:p>
            <a:p>
              <a:pPr algn="l">
                <a:lnSpc>
                  <a:spcPts val="3432"/>
                </a:lnSpc>
              </a:pPr>
              <a:r>
                <a:rPr lang="en-US" sz="2200">
                  <a:solidFill>
                    <a:srgbClr val="C8DC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 Real-world data validation — synthetic data confirmed methodology; clinical data required before deployment</a:t>
              </a:r>
            </a:p>
            <a:p>
              <a:pPr algn="l">
                <a:lnSpc>
                  <a:spcPts val="3432"/>
                </a:lnSpc>
              </a:pPr>
              <a:r>
                <a:rPr lang="en-US" sz="2200">
                  <a:solidFill>
                    <a:srgbClr val="C8DC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 XGBoost / LightGBM comparison — ensemble boosting may improve precision without sacrificing recall</a:t>
              </a:r>
            </a:p>
            <a:p>
              <a:pPr algn="l">
                <a:lnSpc>
                  <a:spcPts val="3432"/>
                </a:lnSpc>
              </a:pPr>
              <a:r>
                <a:rPr lang="en-US" sz="2200">
                  <a:solidFill>
                    <a:srgbClr val="C8DC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  Race/ethnicity data collection — mandatory for full fairness audit in clinical deployment</a:t>
              </a:r>
            </a:p>
            <a:p>
              <a:pPr algn="l">
                <a:lnSpc>
                  <a:spcPts val="3432"/>
                </a:lnSpc>
              </a:pPr>
              <a:r>
                <a:rPr lang="en-US" sz="2200">
                  <a:solidFill>
                    <a:srgbClr val="C8DCE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5.  Streamlit chatbot integration — API layer at app/api/main.py already scaffolded (VascularGuard-ML/app/)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68096" y="9619488"/>
            <a:ext cx="16824960" cy="438912"/>
            <a:chOff x="0" y="0"/>
            <a:chExt cx="22433280" cy="5852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433280" cy="585216"/>
            </a:xfrm>
            <a:custGeom>
              <a:avLst/>
              <a:gdLst/>
              <a:ahLst/>
              <a:cxnLst/>
              <a:rect r="r" b="b" t="t" l="l"/>
              <a:pathLst>
                <a:path h="585216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24332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7A94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Joseph Dominic Bichara  |  VascularGuard ML  |  Capstone 2026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DAHE3RPmivk</dc:identifier>
  <dcterms:modified xsi:type="dcterms:W3CDTF">2011-08-01T06:04:30Z</dcterms:modified>
  <cp:revision>1</cp:revision>
  <dc:title>technical_presentation_v2.pptx</dc:title>
</cp:coreProperties>
</file>