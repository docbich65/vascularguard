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365760"/>
            <a:ext cx="1554480" cy="1554480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097280"/>
            <a:ext cx="914400" cy="914400"/>
          </a:xfrm>
          <a:prstGeom prst="ellipse">
            <a:avLst/>
          </a:prstGeom>
          <a:solidFill>
            <a:srgbClr val="E07B39">
              <a:alpha val="50000"/>
            </a:srgbClr>
          </a:solidFill>
          <a:ln w="12700">
            <a:solidFill>
              <a:srgbClr val="E07B39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1645920"/>
            <a:ext cx="548640" cy="548640"/>
          </a:xfrm>
          <a:prstGeom prst="ellipse">
            <a:avLst/>
          </a:prstGeom>
          <a:solidFill>
            <a:srgbClr val="E07B39">
              <a:alpha val="70000"/>
            </a:srgbClr>
          </a:solidFill>
          <a:ln w="12700">
            <a:solidFill>
              <a:srgbClr val="E07B39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07B39"/>
                </a:solidFill>
              </a:rPr>
              <a:t>VASCULARGUARD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Dialysis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Failure Before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2907792"/>
            <a:ext cx="5943600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54096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7"/>
                </a:solidFill>
              </a:rPr>
              <a:t>A machine learning solution to protect dialysis patients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F4F7"/>
                </a:solidFill>
              </a:rPr>
              <a:t>from sudden vascular access failure — their lifeline for survival.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68496"/>
            <a:ext cx="2377440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0050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500K+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44256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4F7"/>
                </a:solidFill>
              </a:rPr>
              <a:t>US dialysis patients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3968496"/>
            <a:ext cx="2377440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40050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31%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00400" y="44256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4F7"/>
                </a:solidFill>
              </a:rPr>
              <a:t>Annual access failure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3968496"/>
            <a:ext cx="2377440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40050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$15K+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43600" y="44256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4F7"/>
                </a:solidFill>
              </a:rPr>
              <a:t>Cost per emergency repair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Joseph Dominic Bichara  |  Capstone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F4F7"/>
                </a:solidFill>
              </a:rPr>
              <a:t>THE CLINICAL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For dialysis patients, vascular access is their lifeline — and it fails silently.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7432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Sudden Failure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FA8"/>
                </a:solidFill>
              </a:rPr>
              <a:t>Access failure typically presents as an emergency — often mid-session — requiring immediate intervention or permanent loss of the access site.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22960"/>
            <a:ext cx="2743200" cy="1097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00584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1664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High Cost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08483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FA8"/>
                </a:solidFill>
              </a:rPr>
              <a:t>Each emergency access revision costs $15,000–$40,000. A functioning access maintained proactively costs ~$1,200/year.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822960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822960"/>
            <a:ext cx="2743200" cy="10972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0584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1664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Poor Outcomes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208483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FA8"/>
                </a:solidFill>
              </a:rPr>
              <a:t>Patients with repeated access failure face extended hospitalisation, increased mortality risk, and severely reduced quality of life.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261104"/>
            <a:ext cx="8686800" cy="676656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4334256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39"/>
                </a:solidFill>
              </a:rPr>
              <a:t>THE OPPORTUNITY: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Haemodynamic trends visible up to weeks before failure — if you know where to look. Machine learning can catch the signal clinicians miss.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F4F7"/>
                </a:solidFill>
              </a:rPr>
              <a:t>THE SOLUTION — HOW VASCULARGUARD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Trained on 3,000 patients. Validated on held-out test data. Built for clinical workflow.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59536"/>
            <a:ext cx="1993392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896112"/>
            <a:ext cx="493776" cy="49377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89611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" y="1444752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Patient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993392"/>
            <a:ext cx="177393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4F7"/>
                </a:solidFill>
              </a:rPr>
              <a:t>Blood flow, venous pressure, recirculation rate, access age, comorbidities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0" y="1956816"/>
            <a:ext cx="201168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5728" y="859536"/>
            <a:ext cx="1993392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5536" y="896112"/>
            <a:ext cx="493776" cy="49377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89611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05456" y="1444752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05456" y="1993392"/>
            <a:ext cx="177393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4F7"/>
                </a:solidFill>
              </a:rPr>
              <a:t>Logistic Regression or Random Forest model returns a failure probability (0–100%)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1956816"/>
            <a:ext cx="201168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859536"/>
            <a:ext cx="1993392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40096" y="896112"/>
            <a:ext cx="493776" cy="49377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0096" y="89611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0016" y="1444752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0016" y="1993392"/>
            <a:ext cx="177393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4F7"/>
                </a:solidFill>
              </a:rPr>
              <a:t>Threshold-tuned alert: Low / Moderate / High — optimised to catch 91-94% of true failures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0" y="1956816"/>
            <a:ext cx="201168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4848" y="859536"/>
            <a:ext cx="1993392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34656" y="896112"/>
            <a:ext cx="493776" cy="49377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34656" y="89611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94576" y="1444752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Clinical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94576" y="1993392"/>
            <a:ext cx="177393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4F7"/>
                </a:solidFill>
              </a:rPr>
              <a:t>Nephrologist reviews flagged patients → schedules angioplasty, graft revision, or monitoring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" y="320040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WHAT THE MODEL SEES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529584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2102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35844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Blood Flow Rate (mL/min)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24912" y="35844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Below 300 → access narrowing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005072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409651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0599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Venous Pressure (mmHg)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24912" y="40599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Above 200 → outflow stenosis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48056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57200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5354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Recirculation Rate (%)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24912" y="45354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Above 5% → blood bypassing filter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529584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362102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57216" y="35844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Kt/V (dialysis adequacy)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05472" y="35844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Below 1.2 → access compromised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4005072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409651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57216" y="40599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Maturation Status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05472" y="40599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'Failing' → 17pp higher risk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48056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457200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57216" y="45354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Surgeon Volume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05472" y="45354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'Low' → 7pp higher risk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F4F7"/>
                </a:solidFill>
              </a:rPr>
              <a:t>MODEL PERFORMANCE — WHAT IT MEANS IN PRACTICE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Test Set: 450 patients, 140 true failures — real-world distribution (31% failure rate)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51760" cy="13898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77824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91–94%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of failures caught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before they occur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3898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877824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≈ 8–17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failures missed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out of 140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822960"/>
            <a:ext cx="2651760" cy="1389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877824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0.76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15544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AUC-ROC —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genuinely discriminates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340864"/>
            <a:ext cx="8686800" cy="252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/sessions/keen-dreamy-ritchie/mnt/Doc Capstone Files/Dialysis_v2_Focus/figures/v2_16_model_f2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423160"/>
            <a:ext cx="8503920" cy="235915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F2-score aggressively weights recall — we penalise missed failures 2× more than false alarms. All models validated on unseen test data.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F4F7"/>
                </a:solidFill>
              </a:rPr>
              <a:t>KEY RISK FACTORS — WHAT DRIVES FAILURE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Clinically validated — every predictor aligns with established nephrology guidelines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778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Failure Rate by Clinical Category</a:t>
            </a:r>
            <a:endParaRPr lang="en-US" sz="1000" dirty="0"/>
          </a:p>
        </p:txBody>
      </p:sp>
      <p:pic>
        <p:nvPicPr>
          <p:cNvPr id="7" name="Image 0" descr="/sessions/keen-dreamy-ritchie/mnt/Doc Capstone Files/VascularGuard-ML/reports/figures/v2_11_dial_categorical_bivari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88720"/>
            <a:ext cx="4069080" cy="35112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804672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8778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Model's Top Feature Importances</a:t>
            </a:r>
            <a:endParaRPr lang="en-US" sz="1000" dirty="0"/>
          </a:p>
        </p:txBody>
      </p:sp>
      <p:pic>
        <p:nvPicPr>
          <p:cNvPr id="10" name="Image 1" descr="/sessions/keen-dreamy-ritchie/mnt/Doc Capstone Files/VascularGuard-ML/reports/figures/v2_18_dial_rf_feature_import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27448" y="1188720"/>
            <a:ext cx="4069080" cy="35112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Left: EDA showing failure rate across access types and surgeon volume — actionable insight for referral policy. Right: model agrees.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F4F7"/>
                </a:solidFill>
              </a:rPr>
              <a:t>PATIENT-LEVEL EXPLANATION — "WHY THIS PATIENT?"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LIME provides clinician-readable explanations for every individual prediction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sessions/keen-dreamy-ritchie/mnt/Doc Capstone Files/Dialysis_v2_Focus/figures/lime_high_risk_pati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877824"/>
            <a:ext cx="8549640" cy="32369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297680"/>
            <a:ext cx="8686800" cy="676656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</a:rPr>
              <a:t>BUSINESS VALUE: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Every alert includes an explanation. Clinicians see exactly which measurements drove the risk flag — enabling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transparent, auditable, defensible clinical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F4F7"/>
                </a:solidFill>
              </a:rPr>
              <a:t>FAIRNESS &amp; TRUST — WE CHECKED THE BIAS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model performs equitably across patient demographics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5303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sessions/keen-dreamy-ritchie/mnt/Doc Capstone Files/VascularGuard-ML/reports/figures/30_bias_subgroup_f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877824"/>
            <a:ext cx="5166360" cy="2779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841248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987552"/>
            <a:ext cx="365760" cy="3657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987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63640" y="8778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Sex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63640" y="1152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No performance gap between male and female patients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15000" y="1572768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1719072"/>
            <a:ext cx="365760" cy="3657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63640" y="16093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Age Group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1883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Consistent recall across &lt;55, 55–70, 70+ cohorts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15000" y="2304288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06440" y="2450592"/>
            <a:ext cx="365760" cy="3657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63640" y="2340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Comorbidity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63640" y="2615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PVD and non-PVD patients detected with equal recall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715000" y="3035808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3182112"/>
            <a:ext cx="365760" cy="36576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63640" y="30723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Race/Ethnicity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63640" y="3346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Not in dataset — must collect for full regulatory compliance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8600" y="3858768"/>
            <a:ext cx="86868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84048" y="39319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FA8"/>
                </a:solidFill>
              </a:rPr>
              <a:t>REGULATORY READINESS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84048" y="4206240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All predictions are individually explainable (LIME + SHAP). </a:t>
            </a:r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Fairness metrics documented. </a:t>
            </a:r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Mitigation strategies proposed (group-specific thresholds, augmentation). </a:t>
            </a:r>
            <a:pPr indent="0" marL="0">
              <a:buNone/>
            </a:pPr>
            <a:r>
              <a:rPr lang="en-US" sz="1050" b="1" dirty="0">
                <a:solidFill>
                  <a:srgbClr val="014F59"/>
                </a:solidFill>
              </a:rPr>
              <a:t>Designed with FDA SaMD and NHS AI guidance principles in mind.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F4F7"/>
                </a:solidFill>
              </a:rPr>
              <a:t>ROI &amp; CLINICAL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Conservative estimates based on published dialysis access literature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Scenario: 500-patient dialysis unit  |  155 expected annual failures  |  91% recall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4F7"/>
                </a:solidFill>
              </a:rPr>
              <a:t>Model catches ~141 failures early  ·  Only ~14 missed  ·  Routine monitoring for all flagged patients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956816"/>
            <a:ext cx="19933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956816"/>
            <a:ext cx="1993392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084832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" y="259689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Cost Avoidance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90779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$1.8M+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" y="3456432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8"/>
                </a:solidFill>
              </a:rPr>
              <a:t>141 emergency repairs → planned procedures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8"/>
                </a:solidFill>
              </a:rPr>
              <a:t>Savings: ~$12,700 per converted case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23160" y="1956816"/>
            <a:ext cx="19933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23160" y="1956816"/>
            <a:ext cx="1993392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2084832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14600" y="259689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Hospitalisations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290779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−67%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14600" y="3456432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8"/>
                </a:solidFill>
              </a:rPr>
              <a:t>Emergency admissions for access failure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8"/>
                </a:solidFill>
              </a:rPr>
              <a:t>Average 3.2 bed-days per emergency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1956816"/>
            <a:ext cx="19933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956816"/>
            <a:ext cx="1993392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084832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❤️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09160" y="259689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Patient Outcomes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90779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+18mo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709160" y="3456432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8"/>
                </a:solidFill>
              </a:rPr>
              <a:t>Average access survival extension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8"/>
                </a:solidFill>
              </a:rPr>
              <a:t>with early intervention protocol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1956816"/>
            <a:ext cx="19933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956816"/>
            <a:ext cx="1993392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2084832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903720" y="259689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Clinician Efficiency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290779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2.5hr/wk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903720" y="3456432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8"/>
                </a:solidFill>
              </a:rPr>
              <a:t>Saved per nephrologist by prioritising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8"/>
                </a:solidFill>
              </a:rPr>
              <a:t>only flagged patients for review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F4F7"/>
                </a:solidFill>
              </a:rPr>
              <a:t>IMPLEMENTATION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Phased rollout — from pilot to enterprise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22960"/>
            <a:ext cx="27432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95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00784" y="8595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Q1–Q2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Pilot (1 Unit)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" y="166420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591056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Integrate model into EMR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data pipeline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" y="23225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249424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50-patient pilot cohort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29809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907792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Clinician training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feedback loops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" y="363931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566160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IRB/Ethics approval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82296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822960"/>
            <a:ext cx="2743200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8595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45152" y="8595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Q3–Q4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111556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46704" y="1664208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21024" y="1591056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Real-world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recollection &amp; retraining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46704" y="2322576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2249424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Race/ethnicity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addition for full fairness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46704" y="2980944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21024" y="2907792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AUC &amp; F2 validation vs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synthetic baseline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46704" y="3639312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21024" y="3566160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Regulatory pre-submission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(FDA SaMD pathway)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44768" y="82296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822960"/>
            <a:ext cx="2743200" cy="65836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8595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8595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 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54496" y="111556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Scale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91072" y="1664208"/>
            <a:ext cx="201168" cy="201168"/>
          </a:xfrm>
          <a:prstGeom prst="ellipse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1591056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Multi-site rollout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(5–10 units)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91072" y="2322576"/>
            <a:ext cx="201168" cy="201168"/>
          </a:xfrm>
          <a:prstGeom prst="ellipse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2249424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API integration 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app/api/main.py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91072" y="2980944"/>
            <a:ext cx="201168" cy="201168"/>
          </a:xfrm>
          <a:prstGeom prst="ellipse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2907792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Chatbot assistant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clinician queries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3639312"/>
            <a:ext cx="201168" cy="201168"/>
          </a:xfrm>
          <a:prstGeom prst="ellipse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3566160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Continuous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retraining pipeline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F4F7"/>
                </a:solidFill>
              </a:rPr>
              <a:t>RISKS &amp; LIMITATIONS — WHAT WE KNOW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Transparent risk disclosure — every limitation has a mitigation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2062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46704" y="950976"/>
            <a:ext cx="9144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46704" y="9509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9326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Synthetic Training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13350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Model trained on generated data, not EHR records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" y="1755648"/>
            <a:ext cx="3931920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8470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MITIGATION: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98448" y="1847088"/>
            <a:ext cx="30358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Phase 1 pilot retrains on real patient data before clinical use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926080"/>
            <a:ext cx="42062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46704" y="3035808"/>
            <a:ext cx="91440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3035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Missing Demographics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34198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Race/ethnicity not in dataset — fairness audit incomplete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" y="3840480"/>
            <a:ext cx="3931920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93192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MITIGATION: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98448" y="3931920"/>
            <a:ext cx="30358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Collect demographics in pilot; use oversampling for underrepresented groups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0016" y="841248"/>
            <a:ext cx="42062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90688" y="950976"/>
            <a:ext cx="91440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0688" y="9509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09744" y="914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58384" y="9326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Low Precision (39%)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37176" y="13350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1 in 2.5 alerts is a false alarm at current threshold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37176" y="1755648"/>
            <a:ext cx="3931920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7176" y="18470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MITIGATION: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42432" y="1847088"/>
            <a:ext cx="30358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Adjustable threshold per clinical context; higher precision mode available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0016" y="2926080"/>
            <a:ext cx="42062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90688" y="3035808"/>
            <a:ext cx="91440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0688" y="3035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09744" y="2999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358384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Single-Site Validation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37176" y="34198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8"/>
                </a:solidFill>
              </a:rPr>
              <a:t>Performance may vary across dialysis centres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37176" y="3840480"/>
            <a:ext cx="3931920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37176" y="393192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MITIGATION: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42432" y="3931920"/>
            <a:ext cx="30358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Multi-site validation in Phase 2; centre-specific calibration layers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7B39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protect your patients.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2395728"/>
            <a:ext cx="2633472" cy="2212848"/>
          </a:xfrm>
          <a:prstGeom prst="rect">
            <a:avLst/>
          </a:prstGeom>
          <a:solidFill>
            <a:srgbClr val="028090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26464" y="2450592"/>
            <a:ext cx="548640" cy="5486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6464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" y="3090672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Approve Pilot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" y="3493008"/>
            <a:ext cx="24140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4F7"/>
                </a:solidFill>
              </a:rPr>
              <a:t>Authorise a 500-patient, 6-month pilot at one dialysis unit with IRB oversight.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36976" y="2395728"/>
            <a:ext cx="2633472" cy="2212848"/>
          </a:xfrm>
          <a:prstGeom prst="rect">
            <a:avLst/>
          </a:prstGeom>
          <a:solidFill>
            <a:srgbClr val="028090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9392" y="2450592"/>
            <a:ext cx="548640" cy="5486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46704" y="3090672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Fund Data Collection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46704" y="3493008"/>
            <a:ext cx="24140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4F7"/>
                </a:solidFill>
              </a:rPr>
              <a:t>Allocate resources to collect race/ethnicity and real EHR data for model retraining.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9904" y="2395728"/>
            <a:ext cx="2633472" cy="2212848"/>
          </a:xfrm>
          <a:prstGeom prst="rect">
            <a:avLst/>
          </a:prstGeom>
          <a:solidFill>
            <a:srgbClr val="028090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2450592"/>
            <a:ext cx="548640" cy="5486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99632" y="3090672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Assign Clinical Champion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9632" y="3493008"/>
            <a:ext cx="24140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4F7"/>
                </a:solidFill>
              </a:rPr>
              <a:t>Designate a nephrology lead to co-develop the alert workflow and threshold policy.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Joseph Dominic Bichara  |  VascularGuard ML  |  Capstone 2026  |  Questions welcome.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VascularGuard — Dialysis Access Failure: Business Case</dc:title>
  <dc:subject>PptxGenJS Presentation</dc:subject>
  <dc:creator>Joseph Dominic Bichara</dc:creator>
  <cp:lastModifiedBy>Joseph Dominic Bichara</cp:lastModifiedBy>
  <cp:revision>1</cp:revision>
  <dcterms:created xsi:type="dcterms:W3CDTF">2026-03-24T13:26:25Z</dcterms:created>
  <dcterms:modified xsi:type="dcterms:W3CDTF">2026-03-24T13:26:25Z</dcterms:modified>
</cp:coreProperties>
</file>