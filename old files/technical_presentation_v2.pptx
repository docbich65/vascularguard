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74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DCEF"/>
                </a:solidFill>
              </a:rPr>
              <a:t>CAPSTONE TECHNICAL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VascularGuard ML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84048" y="15727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Vascular Access Failure Prediction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2212848"/>
            <a:ext cx="8375904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423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DCEF"/>
                </a:solidFill>
              </a:rPr>
              <a:t>Dataset: </a:t>
            </a:r>
            <a:pPr algn="l" indent="0" marL="0">
              <a:buNone/>
            </a:pPr>
            <a:r>
              <a:rPr lang="en-US" sz="1300" dirty="0">
                <a:solidFill>
                  <a:srgbClr val="AABFCC"/>
                </a:solidFill>
              </a:rPr>
              <a:t>dialysis_access_v2.csv  |  3,000 patients  |  31.2% failure rate
</a:t>
            </a:r>
            <a:pPr algn="l" indent="0" marL="0">
              <a:buNone/>
            </a:pPr>
            <a:r>
              <a:rPr lang="en-US" sz="1300" b="1" dirty="0">
                <a:solidFill>
                  <a:srgbClr val="C8DCEF"/>
                </a:solidFill>
              </a:rPr>
              <a:t>Models: </a:t>
            </a:r>
            <a:pPr algn="l" indent="0" marL="0">
              <a:buNone/>
            </a:pPr>
            <a:r>
              <a:rPr lang="en-US" sz="1300" dirty="0">
                <a:solidFill>
                  <a:srgbClr val="AABFCC"/>
                </a:solidFill>
              </a:rPr>
              <a:t>Logistic Regression · SVM · KNN · Random Forest
</a:t>
            </a:r>
            <a:pPr algn="l" indent="0" marL="0">
              <a:buNone/>
            </a:pPr>
            <a:r>
              <a:rPr lang="en-US" sz="1300" b="1" dirty="0">
                <a:solidFill>
                  <a:srgbClr val="C8DCEF"/>
                </a:solidFill>
              </a:rPr>
              <a:t>Primary Metric: </a:t>
            </a:r>
            <a:pPr algn="l" indent="0" marL="0">
              <a:buNone/>
            </a:pPr>
            <a:r>
              <a:rPr lang="en-US" sz="1300" dirty="0">
                <a:solidFill>
                  <a:srgbClr val="AABFCC"/>
                </a:solidFill>
              </a:rPr>
              <a:t>F2-score (β=2, recall-weighted)  |  Top Test F2 = 0.7223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Joseph Dominic Bichara  |  VascularGuard ML  | 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06240"/>
            <a:ext cx="17373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50608" y="4224528"/>
            <a:ext cx="1700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CEF"/>
                </a:solidFill>
              </a:rPr>
              <a:t>Steps 1–6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DCEF"/>
                </a:solidFill>
              </a:rPr>
              <a:t>Full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1 — PROBLEM FRAMING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Task Definition · Metric Selection · Clinical Justification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82296" cy="1207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77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TASK 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Binary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Target: dialysis_failure (0 = no failure, 1 = failure)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21408"/>
            <a:ext cx="82296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945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PRIMARY METRIC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395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F2-score  (β = 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" y="26883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Recall weighted 2× over precision — missing a failure is far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costlier than a false alarm in a dialysis access context.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38144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38144"/>
            <a:ext cx="82296" cy="1207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5112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BUSINESS KPI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Zero missed failures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" y="40050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Access failure = emergency surgery / permanent loss.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Early detection prevents permanent vascular damage.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1628"/>
                </a:solidFill>
              </a:rPr>
              <a:t>WHY F2, NOT ACCURACY?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261872"/>
          <a:ext cx="393192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False Negative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(missed failure)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Patient loses access →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emergency surgery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 death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False Positive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(false alarm)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Unnecessary check-up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→ minor inconvenience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True Positive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(caught early)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Timely intervention →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access preserved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800600" y="3657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A1628"/>
                </a:solidFill>
              </a:rPr>
              <a:t>↑ F2 aggressively minimises missed failures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0A1628"/>
                </a:solidFill>
              </a:rPr>
              <a:t>by weighting recall twice as heavily as precision.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2 — DATASET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dialysis_access_v2.csv — Why v2?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9385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778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4081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</a:rPr>
              <a:t>Patients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4872" y="804672"/>
            <a:ext cx="19385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8778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04872" y="14081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81144" y="804672"/>
            <a:ext cx="19385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8778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31.2%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81144" y="14081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</a:rPr>
              <a:t>Failure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57416" y="804672"/>
            <a:ext cx="19385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57416" y="877824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0.329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57416" y="14081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EF"/>
                </a:solidFill>
              </a:rPr>
              <a:t>Top |r| with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19751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v1 → v2: Why the Dataset Was Upgraded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04288"/>
          <a:ext cx="8595360" cy="2395728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377440"/>
                <a:gridCol w="2377440"/>
              </a:tblGrid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Original (v1)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Upgraded (v2)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Top |r| with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3.6× stronger signal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AUC (RF baseline)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~0.54 (near random)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~0.76 (genuine discrim.)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Real learning, not threshold hack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Feature correlations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Weak / synthetic noise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Clinically coherent interactions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PVD×steal, graft×infection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Failure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More realistic class ratio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av_graft proportion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~36%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~49% (1,460 rows)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More graft diversity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4AF"/>
                </a:solidFill>
              </a:rPr>
              <a:t>v2 has significantly stronger and clinically coherent signals — models genuinely discriminate rather than rely on threshold manipulation.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3 — EDA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Class Balance · Correlations · Key Predictors</a:t>
            </a:r>
            <a:endParaRPr lang="en-US" sz="1200" dirty="0"/>
          </a:p>
        </p:txBody>
      </p:sp>
      <p:pic>
        <p:nvPicPr>
          <p:cNvPr id="5" name="Image 0" descr="/sessions/keen-dreamy-ritchie/mnt/Doc Capstone Files/VascularGuard-ML/reports/figures/v207_dial_target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4206240" cy="2103120"/>
          </a:xfrm>
          <a:prstGeom prst="rect">
            <a:avLst/>
          </a:prstGeom>
        </p:spPr>
      </p:pic>
      <p:pic>
        <p:nvPicPr>
          <p:cNvPr id="6" name="Image 1" descr="/sessions/keen-dreamy-ritchie/mnt/Doc Capstone Files/VascularGuard-ML/reports/figures/v2_10_dial_correlation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777240"/>
            <a:ext cx="4206240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2999232"/>
            <a:ext cx="8686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84048" y="30906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TOP PREDICTORS (Dialysis v2)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4048" y="3364992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Recirculation Rate &gt; 5%  </a:t>
            </a:r>
            <a:pPr algn="l"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(r = 0.329) — strongest signal; access blood returning untreated
</a:t>
            </a:r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Venous Pressure &gt; 200 mmHg  </a:t>
            </a:r>
            <a:pPr algn="l"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(r = 0.286) — downstream stenosis marker
</a:t>
            </a:r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Blood Flow &lt; 300 mL/min  </a:t>
            </a:r>
            <a:pPr algn="l"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(r = −0.258) — narowing / thrombosis indicator
</a:t>
            </a:r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dial_maturation_status 'failing'  </a:t>
            </a:r>
            <a:pPr algn="l"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Δ +17.1pp vs 'mature' — strongest categorical signal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3 — FEATURE ENGINEERING &amp; 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Encoding · Scaling · SMOTE · Domain-Derived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50976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50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326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Drop Zero-Variance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chronic_kidney_disease = 1 for all dialysis patients → dropped (zero predictive value)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31136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40864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22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NaN Handling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dial_maturation_status NaN → 'N/A_graft' (1,460 AV-graft rows — not missing data)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621024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30752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Ordinal Encoding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98678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dial_maturation_status: mature=0, N/A_graft=1, maturing=2, failing=3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dial_surgeon_volume: high=0, medium=1, low=2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0016" y="84124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950976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950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66944" y="9326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One-Hot Encoding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6944" y="120700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dial_access_type, dial_access_location, sex, smoking_status (46 total features post-encoding)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0016" y="2231136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9744" y="2340864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66944" y="2322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Engineered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6944" y="259689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low_flow_flag: blood_flow &lt; 300 mL/min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high_vp_flag: venous_pressure &gt; 200 mmHg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0016" y="3621024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3730752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66944" y="37124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StandardScaler + SMOTE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66944" y="398678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4AF"/>
                </a:solidFill>
              </a:rPr>
              <a:t>All numeric features scaled. SMOTE applied to training set only (50/50 balance). Val/test untouched.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3 — DIMENSIONALITY REDUCTION &amp; FEATURE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PCA Scree Analysis · RFE (Recursive Feature Elimination)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keen-dreamy-ritchie/mnt/Doc Capstone Files/VascularGuard-ML/reports/figures/27_pca_scree_pl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877824"/>
            <a:ext cx="406908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04672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sessions/keen-dreamy-ritchie/mnt/Doc Capstone Files/VascularGuard-ML/reports/figures/29_rfe_feature_sel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7448" y="877824"/>
            <a:ext cx="4069080" cy="2331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3310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PCA — Scree Plot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63440" y="3310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RFE — Feature Selection Curve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" y="3621024"/>
            <a:ext cx="8686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84048" y="3730752"/>
            <a:ext cx="8321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PCA: </a:t>
            </a:r>
            <a:pPr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~15 PCs explain 80% of variance in v2. Haemodynamic features (blood flow, venous pressure, recirculation) dominate PC1.  </a:t>
            </a:r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RFE: </a:t>
            </a:r>
            <a:pPr indent="0" marL="0">
              <a:buNone/>
            </a:pPr>
            <a:r>
              <a:rPr lang="en-US" sz="1050" dirty="0">
                <a:solidFill>
                  <a:srgbClr val="7A94AF"/>
                </a:solidFill>
              </a:rPr>
              <a:t>Optimal feature subset at ~18–22 features. Top RFE selections match SHAP global rankings — confirming feature robustness across two independent selection methods.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4 — MODEL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GridSearchCV · F2-scored · Threshold-Optimised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keen-dreamy-ritchie/mnt/Doc Capstone Files/Dialysis_v2_Focus/figures/v2_16_model_f2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77824"/>
            <a:ext cx="8503920" cy="2249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31012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Test Set Results — All Models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02736"/>
          <a:ext cx="8595360" cy="1353312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280160"/>
                <a:gridCol w="1097280"/>
                <a:gridCol w="1280160"/>
                <a:gridCol w="1280160"/>
              </a:tblGrid>
              <a:tr h="2706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F2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Logistic Reg.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0.7223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0.3926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0.9143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0.7638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0.7166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0.3657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0.9429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0.7514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0.7062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0.3899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0.8857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0.6865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0.6077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0.4670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0.6571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0.7027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99262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4AF"/>
                </a:solidFill>
              </a:rPr>
              <a:t>★ Logistic Regression selected — highest Test F2 (0.7223) with 91.4% recall. RF selected as secondary for 94.3% recall where zero misses is prioritised.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4 — CONFUSION MATRIX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 Set  |  LR (t=0.38) vs RF (t=0.20)  |  450 patients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keen-dreamy-ritchie/mnt/Doc Capstone Files/Dialysis_v2_Focus/figures/v2_17_confusion_matr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77824"/>
            <a:ext cx="8503920" cy="2779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858768"/>
            <a:ext cx="290779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393192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4206240"/>
            <a:ext cx="2724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F2=0.7223 | Recall=0.914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Missed failures: ~12 of 140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Precision: 39.3%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3858768"/>
            <a:ext cx="2907792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393192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4206240"/>
            <a:ext cx="2724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F2=0.7166 | Recall=0.943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Missed failures: ~8 of 140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Precision: 36.6%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3858768"/>
            <a:ext cx="2907792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393192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Clinical Trade-Off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46520" y="4206240"/>
            <a:ext cx="2724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Higher recall → more false alarms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Adjust threshold per clinical 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RF minimises missed failures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5 — FEATURE IMPORTANCE &amp; PARTIAL DEPENDENCE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Random Forest MDI · sklearn PDP (new) · Clinical Threshold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59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RF Feature Importances (Top 15)</a:t>
            </a:r>
            <a:endParaRPr lang="en-US" sz="1000" dirty="0"/>
          </a:p>
        </p:txBody>
      </p:sp>
      <p:pic>
        <p:nvPicPr>
          <p:cNvPr id="7" name="Image 0" descr="/sessions/keen-dreamy-ritchie/mnt/Doc Capstone Files/VascularGuard-ML/reports/figures/v2_18_dial_rf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33856"/>
            <a:ext cx="4069080" cy="3090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804672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859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Partial Dependence Plots — Top 4 Features</a:t>
            </a:r>
            <a:endParaRPr lang="en-US" sz="1000" dirty="0"/>
          </a:p>
        </p:txBody>
      </p:sp>
      <p:pic>
        <p:nvPicPr>
          <p:cNvPr id="10" name="Image 1" descr="/sessions/keen-dreamy-ritchie/mnt/Doc Capstone Files/Dialysis_v2_Focus/figures/pdp_top4_featur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7448" y="1133856"/>
            <a:ext cx="4069080" cy="30906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4AF"/>
                </a:solidFill>
              </a:rPr>
              <a:t>PDP confirms clinically coherent dose-response curves — RF importances and PDP directional effects fully align with nephrology guidelines.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5 — LOCAL EXPLANATIONS: LIME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Instance-Level Attribution — High Risk vs Low Risk Patient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keen-dreamy-ritchie/mnt/Doc Capstone Files/Dialysis_v2_Focus/figures/lime_high_risk_pat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859536"/>
            <a:ext cx="406908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04672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sessions/keen-dreamy-ritchie/mnt/Doc Capstone Files/Dialysis_v2_Focus/figures/lime_low_risk_pati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7448" y="859536"/>
            <a:ext cx="4069080" cy="31638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4206240"/>
            <a:ext cx="86868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279392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LIME </a:t>
            </a:r>
            <a:pPr indent="0" marL="0">
              <a:buNone/>
            </a:pPr>
            <a:r>
              <a:rPr lang="en-US" sz="1050" dirty="0">
                <a:solidFill>
                  <a:srgbClr val="C8DCEF"/>
                </a:solidFill>
              </a:rPr>
              <a:t>fits a local linear model around each patient's prediction. Orange bars = features raising failure risk. Blue bars = protective factors.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Directly readable by clinicians — no ML expertise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STEP 5 — BIAS &amp; FAIRNESS AUDIT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Subgroup Analysis · Demographic Parity · Equalised Odds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303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keen-dreamy-ritchie/mnt/Doc Capstone Files/VascularGuard-ML/reports/figures/30_bias_subgroup_f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877824"/>
            <a:ext cx="5166360" cy="2542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04672"/>
            <a:ext cx="3108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70448" y="896112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FAIRNESS METRICS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0448" y="1170432"/>
          <a:ext cx="2889504" cy="2121408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649224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Pass?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Demographic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Parity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1.00–1.07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Equalised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Odds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Recall gap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&lt; 0.05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Disparate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Impact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&gt; 0.80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threshold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611880"/>
            <a:ext cx="8686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84048" y="3703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4AF"/>
                </a:solidFill>
              </a:rPr>
              <a:t>KNOWN LIMITATIONS &amp; MITIGATIONS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84048" y="396849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• Race/ethnicity absent from dataset  </a:t>
            </a:r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→ Cannot audit; collect in future data gathering  </a:t>
            </a:r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• Synthetic data  </a:t>
            </a:r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→ Real-world validation required before clinical deployment
</a:t>
            </a:r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• Uniform threshold applied across subgroups  </a:t>
            </a:r>
            <a:pPr indent="0" marL="0">
              <a:buNone/>
            </a:pPr>
            <a:r>
              <a:rPr lang="en-US" sz="1000" dirty="0">
                <a:solidFill>
                  <a:srgbClr val="7A94AF"/>
                </a:solidFill>
              </a:rPr>
              <a:t>→ Group-specific thresholds can equalise recall gaps further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DCEF"/>
                </a:solidFill>
              </a:rPr>
              <a:t>CONCLUSIONS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VascularGuard ML — Dialysis v2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8375904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1938528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36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0.7223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Best Test F2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(Logistic Reg.)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05456" y="1481328"/>
            <a:ext cx="1938528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05456" y="1536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91.4%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05456" y="19933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Recall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(LR, t=0.38)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5152" y="1481328"/>
            <a:ext cx="1938528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536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0.7638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45152" y="19933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AUC-ROC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(LR)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84848" y="1481328"/>
            <a:ext cx="1938528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1536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84848" y="199339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More signal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v1 dataset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6334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EF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944368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CEF"/>
                </a:solidFill>
              </a:rPr>
              <a:t>1.  Add SHAP analysis specific to v2 (notebook 06b) — RF SHAP values will differ from original dataset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CEF"/>
                </a:solidFill>
              </a:rPr>
              <a:t>2.  Real-world data validation — synthetic data confirmed methodology; clinical data required before deployment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CEF"/>
                </a:solidFill>
              </a:rPr>
              <a:t>3.  XGBoost / LightGBM comparison — ensemble boosting may improve precision without sacrificing recall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CEF"/>
                </a:solidFill>
              </a:rPr>
              <a:t>4.  Race/ethnicity data collection — mandatory for full fairness audit in clinical deployment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CEF"/>
                </a:solidFill>
              </a:rPr>
              <a:t>5.  Streamlit chatbot integration — API layer at app/api/main.py already scaffolded (VascularGuard-ML/app/)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480974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AF"/>
                </a:solidFill>
              </a:rPr>
              <a:t>Joseph Dominic Bichara  |  VascularGuard ML  |  Capstone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VascularGuard ML — Dialysis v2 Technical Report</dc:title>
  <dc:subject>PptxGenJS Presentation</dc:subject>
  <dc:creator>Joseph Dominic Bichara</dc:creator>
  <cp:lastModifiedBy>Joseph Dominic Bichara</cp:lastModifiedBy>
  <cp:revision>1</cp:revision>
  <dcterms:created xsi:type="dcterms:W3CDTF">2026-03-24T13:24:29Z</dcterms:created>
  <dcterms:modified xsi:type="dcterms:W3CDTF">2026-03-24T13:24:29Z</dcterms:modified>
</cp:coreProperties>
</file>